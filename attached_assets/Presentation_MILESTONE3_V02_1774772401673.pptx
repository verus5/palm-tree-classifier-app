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25"/>
  </p:notesMasterIdLst>
  <p:sldIdLst>
    <p:sldId id="256" r:id="rId5"/>
    <p:sldId id="480" r:id="rId6"/>
    <p:sldId id="481" r:id="rId7"/>
    <p:sldId id="487" r:id="rId8"/>
    <p:sldId id="482" r:id="rId9"/>
    <p:sldId id="488" r:id="rId10"/>
    <p:sldId id="489" r:id="rId11"/>
    <p:sldId id="490" r:id="rId12"/>
    <p:sldId id="483" r:id="rId13"/>
    <p:sldId id="491" r:id="rId14"/>
    <p:sldId id="484" r:id="rId15"/>
    <p:sldId id="493" r:id="rId16"/>
    <p:sldId id="492" r:id="rId17"/>
    <p:sldId id="496" r:id="rId18"/>
    <p:sldId id="495" r:id="rId19"/>
    <p:sldId id="485" r:id="rId20"/>
    <p:sldId id="497" r:id="rId21"/>
    <p:sldId id="486" r:id="rId22"/>
    <p:sldId id="498" r:id="rId23"/>
    <p:sldId id="499" r:id="rId24"/>
  </p:sldIdLst>
  <p:sldSz cx="12192000" cy="6858000"/>
  <p:notesSz cx="6858000" cy="9144000"/>
  <p:embeddedFontLst>
    <p:embeddedFont>
      <p:font typeface="DIN Next LT Arabic" panose="020B0604020202020204" charset="0"/>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7277"/>
    <a:srgbClr val="0C3555"/>
    <a:srgbClr val="C29943"/>
    <a:srgbClr val="03B09C"/>
    <a:srgbClr val="EBDEC3"/>
    <a:srgbClr val="01A5DB"/>
    <a:srgbClr val="84BD00"/>
    <a:srgbClr val="B33771"/>
    <a:srgbClr val="643278"/>
    <a:srgbClr val="F39C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83" autoAdjust="0"/>
    <p:restoredTop sz="87365" autoAdjust="0"/>
  </p:normalViewPr>
  <p:slideViewPr>
    <p:cSldViewPr snapToGrid="0">
      <p:cViewPr varScale="1">
        <p:scale>
          <a:sx n="79" d="100"/>
          <a:sy n="79" d="100"/>
        </p:scale>
        <p:origin x="667" y="3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milestone </a:t>
            </a:r>
            <a:r>
              <a:rPr lang="ar-SA" dirty="0"/>
              <a:t>2</a:t>
            </a:r>
            <a:r>
              <a:rPr lang="en-US" dirty="0"/>
              <a:t>’s agenda. Modify if needed.</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07106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B7555-E492-315C-A228-A12B640F07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15113-FE36-88F8-5E8C-7460164AF7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22750-2906-461B-71B7-1C4F96802D5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8A5D454-2C4B-6F10-1E67-8E30FD103DAA}"/>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6293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73635-FB90-4A6E-FB09-937CBBBEA0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B92E3C-0452-5669-593B-F6FA01DAEB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049AD-4831-1129-F550-EDA3BE20A56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EE2370D-3594-12F6-36A7-F73B4444FA56}"/>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56616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59D91-A11E-93C4-20F1-2498948A88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3B6835-B99C-A066-96C5-8E3CA66F1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C37EE3-053D-16AF-CC2F-C7C20298242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E0D6AC6-5E3B-C7E9-F5FE-ABC6036B4E60}"/>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57621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BA008-A4A9-B35A-1633-567F3CB593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6D1E49-6260-7193-D109-FF4773DF7E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D86157-042A-016D-A006-266448390E4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5DDC46E-4C7D-ED4E-0A88-59549AC71DCD}"/>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59224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E8CE-30C4-107B-7E47-5817FD46F5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F8D589-5AE5-FB61-D5D9-F2A6EDFBF7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2DAFD5-C0C1-A011-C5E9-788CC65557B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36524DF-D085-0F18-43D0-FBF7D26C2E71}"/>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26324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3493C-A447-FD63-7440-2C89E3874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CF596-847F-D4C6-B9FB-44911BF0F8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9BD9D8-5D36-09A1-2E86-AB61B48011D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F0D5546-DE66-5F58-800F-C401244CA7E5}"/>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703038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15703-3D1F-C0D9-A068-627A1835C3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12E68B-24B3-B1A3-2A20-8D84CA13E1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5A7912-15FE-969D-FCCE-6204642A939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2AC05BB-D3F5-0DE2-1CA9-61C5617F2F9D}"/>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016069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EF714-8FFC-8F43-57AE-B279715150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99F7D7-01F7-2622-4189-81EA77751D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E60BA6-05EA-996F-B71D-FDBDB495EC8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2E657A6-BCBB-F57D-48E1-DA3F7788EB31}"/>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860530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D63D8-6D8D-93B2-D9E3-98D2AF32A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9098B5-2D46-88E3-6D47-C967404576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C5A97E-95D0-ABCD-1760-136F0BEF020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585B292-AB35-9120-BE43-7D6CE665E31C}"/>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587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A5548-63A0-C4AC-E08E-0D7BBB2E3F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26AA5B-9911-47BC-0F52-DE0ED4953A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D43638-933C-FB47-B837-BAAE61B7019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0D867C0-A9AE-1AA2-D865-83E4C2364DAE}"/>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848574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56C7B-41BC-3001-C212-E0A18AFA78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F2B416-F9F0-3DCF-8B78-4C0398DDEA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0AE79C-7C65-1CC0-9D86-DE4C69C1FA8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B6F7225-8F4A-3543-8F0B-26981411D7D4}"/>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257294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1AE14-1ABD-AB0B-8544-1679F734FC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61CD70-6606-1108-91A5-1812397312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4580B1-D86A-8CF0-C012-B1CC0B12086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AEDCA4C-BD60-B05B-E01B-CFD706DD1F3F}"/>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179000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B5C51-10E3-0362-EE88-D747B3DC03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7361FE-D553-2E39-5D56-C27F7EE56A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BE380C-6E06-E087-6FC9-73859D4098D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3B6693A-B26E-7A24-A6AC-09CDC64B2465}"/>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756925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342D5-537F-DAEB-A1F6-DC56768640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4A4B31-5876-9C8A-61DE-B5FA44CD14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EF31BF-12BD-BE55-5372-B75BB894BD6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388E8CB-9A7C-1181-5B9E-ABBBE8B427B1}"/>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572563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4A29D-0248-2A4F-295E-07592AC524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24E12A-199D-EB02-113E-23FE50CF7F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89EA0B-B95E-C424-8C29-1F160F8A7B0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0880D99-2BCE-DE51-2746-79FD98DE2873}"/>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574569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ED19D-088A-4459-44FF-75B29C9EDB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F828C-F4DB-4081-D3D0-981C3AB315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E88DE6-370C-5ABA-EF61-13ADECBEA8B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D47F4D2-7F21-D421-9258-4CAFB8C76E35}"/>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790592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E3571-8655-2921-E49C-A0283F013C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1F98D-67B4-691A-4480-D88DF8DFC2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BD7FEF-C59C-0CAF-D01D-DDF14C32851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9BC0837-C8C9-3E38-B09B-E43F7281AB2B}"/>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99032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hasCustomPrompt="1"/>
          </p:nvPr>
        </p:nvSpPr>
        <p:spPr>
          <a:xfrm>
            <a:off x="838200" y="1"/>
            <a:ext cx="10515600" cy="730250"/>
          </a:xfrm>
          <a:prstGeom prst="rect">
            <a:avLst/>
          </a:prstGeom>
          <a:noFill/>
          <a:ln>
            <a:noFill/>
          </a:ln>
        </p:spPr>
        <p:txBody>
          <a:bodyPr spcFirstLastPara="1" wrap="square" lIns="91425" tIns="45700" rIns="91425" bIns="45700" anchor="ctr" anchorCtr="0"/>
          <a:lstStyle>
            <a:lvl1pPr marR="0" lvl="0" algn="ctr" rtl="0">
              <a:lnSpc>
                <a:spcPct val="90000"/>
              </a:lnSpc>
              <a:spcBef>
                <a:spcPts val="0"/>
              </a:spcBef>
              <a:spcAft>
                <a:spcPts val="0"/>
              </a:spcAft>
              <a:buClr>
                <a:schemeClr val="dk1"/>
              </a:buClr>
              <a:buSzPts val="4400"/>
              <a:buFont typeface="Calibri"/>
              <a:buNone/>
              <a:defRPr sz="4400" b="0" i="0" u="none" strike="noStrike" cap="none">
                <a:solidFill>
                  <a:schemeClr val="bg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dirty="0"/>
              <a:t>Title</a:t>
            </a:r>
            <a:endParaRPr dirty="0"/>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srcRect/>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5" r:id="rId5"/>
    <p:sldLayoutId id="2147483657" r:id="rId6"/>
    <p:sldLayoutId id="2147483658"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000" b="-1000"/>
          </a:stretch>
        </a:blipFill>
        <a:effectLst/>
      </p:bgPr>
    </p:bg>
    <p:spTree>
      <p:nvGrpSpPr>
        <p:cNvPr id="1" name="Shape 87"/>
        <p:cNvGrpSpPr/>
        <p:nvPr/>
      </p:nvGrpSpPr>
      <p:grpSpPr>
        <a:xfrm>
          <a:off x="0" y="0"/>
          <a:ext cx="0" cy="0"/>
          <a:chOff x="0" y="0"/>
          <a:chExt cx="0" cy="0"/>
        </a:xfrm>
      </p:grpSpPr>
      <p:sp>
        <p:nvSpPr>
          <p:cNvPr id="2" name="Title 1">
            <a:extLst>
              <a:ext uri="{FF2B5EF4-FFF2-40B4-BE49-F238E27FC236}">
                <a16:creationId xmlns:a16="http://schemas.microsoft.com/office/drawing/2014/main" id="{7D45BA1F-275D-FDF5-C48D-F4DB23EBCBE1}"/>
              </a:ext>
            </a:extLst>
          </p:cNvPr>
          <p:cNvSpPr>
            <a:spLocks noGrp="1"/>
          </p:cNvSpPr>
          <p:nvPr>
            <p:ph type="title"/>
          </p:nvPr>
        </p:nvSpPr>
        <p:spPr>
          <a:xfrm>
            <a:off x="158130" y="1113781"/>
            <a:ext cx="11643083" cy="3593073"/>
          </a:xfrm>
        </p:spPr>
        <p:txBody>
          <a:bodyPr/>
          <a:lstStyle/>
          <a:p>
            <a:r>
              <a:rPr lang="en-US" sz="4000" b="1" dirty="0">
                <a:solidFill>
                  <a:schemeClr val="bg1"/>
                </a:solidFill>
              </a:rPr>
              <a:t>Semantic AI Framework for Palm Tree and Date Fruit Variety Classification and Knowledge Retrieval</a:t>
            </a:r>
            <a:endParaRPr lang="en-US" sz="4000" dirty="0">
              <a:solidFill>
                <a:schemeClr val="bg1"/>
              </a:solidFill>
            </a:endParaRPr>
          </a:p>
        </p:txBody>
      </p:sp>
      <p:sp>
        <p:nvSpPr>
          <p:cNvPr id="4" name="Text Placeholder 3">
            <a:extLst>
              <a:ext uri="{FF2B5EF4-FFF2-40B4-BE49-F238E27FC236}">
                <a16:creationId xmlns:a16="http://schemas.microsoft.com/office/drawing/2014/main" id="{8FB5ED75-445A-AA27-F62D-C57EEEAA03DB}"/>
              </a:ext>
            </a:extLst>
          </p:cNvPr>
          <p:cNvSpPr>
            <a:spLocks noGrp="1"/>
          </p:cNvSpPr>
          <p:nvPr>
            <p:ph type="body" idx="1"/>
          </p:nvPr>
        </p:nvSpPr>
        <p:spPr/>
        <p:txBody>
          <a:bodyPr/>
          <a:lstStyle/>
          <a:p>
            <a:pPr rtl="1"/>
            <a:r>
              <a:rPr lang="en-US" dirty="0">
                <a:solidFill>
                  <a:srgbClr val="C29943"/>
                </a:solidFill>
                <a:latin typeface="DIN Next LT Arabic" panose="020B0503020203050203" pitchFamily="34" charset="-78"/>
                <a:cs typeface="DIN Next LT Arabic" panose="020B0503020203050203" pitchFamily="34" charset="-78"/>
              </a:rPr>
              <a:t>Project Team</a:t>
            </a:r>
          </a:p>
          <a:p>
            <a:pPr rtl="1"/>
            <a:r>
              <a:rPr lang="en-US" dirty="0">
                <a:solidFill>
                  <a:schemeClr val="bg1"/>
                </a:solidFill>
                <a:latin typeface="DIN Next LT Arabic" panose="020B0503020203050203" pitchFamily="34" charset="-78"/>
                <a:cs typeface="DIN Next LT Arabic" panose="020B0503020203050203" pitchFamily="34" charset="-78"/>
              </a:rPr>
              <a:t>Anas Al-</a:t>
            </a:r>
            <a:r>
              <a:rPr lang="en-US" dirty="0" err="1">
                <a:solidFill>
                  <a:schemeClr val="bg1"/>
                </a:solidFill>
                <a:latin typeface="DIN Next LT Arabic" panose="020B0503020203050203" pitchFamily="34" charset="-78"/>
                <a:cs typeface="DIN Next LT Arabic" panose="020B0503020203050203" pitchFamily="34" charset="-78"/>
              </a:rPr>
              <a:t>Jumaiah</a:t>
            </a:r>
            <a:r>
              <a:rPr lang="en-US" dirty="0">
                <a:solidFill>
                  <a:schemeClr val="bg1"/>
                </a:solidFill>
                <a:latin typeface="DIN Next LT Arabic" panose="020B0503020203050203" pitchFamily="34" charset="-78"/>
                <a:cs typeface="DIN Next LT Arabic" panose="020B0503020203050203" pitchFamily="34" charset="-78"/>
              </a:rPr>
              <a:t>, Ibrahim </a:t>
            </a:r>
            <a:r>
              <a:rPr lang="en-US" dirty="0" err="1">
                <a:solidFill>
                  <a:schemeClr val="bg1"/>
                </a:solidFill>
                <a:latin typeface="DIN Next LT Arabic" panose="020B0503020203050203" pitchFamily="34" charset="-78"/>
                <a:cs typeface="DIN Next LT Arabic" panose="020B0503020203050203" pitchFamily="34" charset="-78"/>
              </a:rPr>
              <a:t>Alborsias</a:t>
            </a:r>
            <a:r>
              <a:rPr lang="en-US" dirty="0">
                <a:solidFill>
                  <a:schemeClr val="bg1"/>
                </a:solidFill>
                <a:latin typeface="DIN Next LT Arabic" panose="020B0503020203050203" pitchFamily="34" charset="-78"/>
                <a:cs typeface="DIN Next LT Arabic" panose="020B0503020203050203" pitchFamily="34" charset="-78"/>
              </a:rPr>
              <a:t>, </a:t>
            </a:r>
            <a:r>
              <a:rPr lang="en-US" dirty="0">
                <a:solidFill>
                  <a:schemeClr val="bg1"/>
                </a:solidFill>
              </a:rPr>
              <a:t>Khalid </a:t>
            </a:r>
            <a:r>
              <a:rPr lang="en-US" dirty="0" err="1">
                <a:solidFill>
                  <a:schemeClr val="bg1"/>
                </a:solidFill>
              </a:rPr>
              <a:t>Almuhaysh</a:t>
            </a:r>
            <a:r>
              <a:rPr lang="en-US" dirty="0">
                <a:solidFill>
                  <a:schemeClr val="bg1"/>
                </a:solidFill>
                <a:latin typeface="DIN Next LT Arabic" panose="020B0503020203050203" pitchFamily="34" charset="-78"/>
                <a:cs typeface="DIN Next LT Arabic" panose="020B0503020203050203" pitchFamily="34" charset="-78"/>
              </a:rPr>
              <a:t>, </a:t>
            </a:r>
            <a:r>
              <a:rPr lang="en-US" dirty="0">
                <a:solidFill>
                  <a:schemeClr val="bg1"/>
                </a:solidFill>
              </a:rPr>
              <a:t>Abdullah </a:t>
            </a:r>
            <a:r>
              <a:rPr lang="en-US" dirty="0" err="1">
                <a:solidFill>
                  <a:schemeClr val="bg1"/>
                </a:solidFill>
              </a:rPr>
              <a:t>Alhasawi</a:t>
            </a:r>
            <a:endParaRPr lang="en-US" dirty="0">
              <a:solidFill>
                <a:schemeClr val="bg1"/>
              </a:solidFill>
              <a:latin typeface="DIN Next LT Arabic" panose="020B0503020203050203" pitchFamily="34" charset="-78"/>
              <a:cs typeface="DIN Next LT Arabic" panose="020B0503020203050203" pitchFamily="34" charset="-78"/>
            </a:endParaRPr>
          </a:p>
          <a:p>
            <a:pPr rtl="1"/>
            <a:r>
              <a:rPr lang="en-US" dirty="0">
                <a:solidFill>
                  <a:srgbClr val="C29943"/>
                </a:solidFill>
                <a:latin typeface="DIN Next LT Arabic" panose="020B0503020203050203" pitchFamily="34" charset="-78"/>
                <a:cs typeface="DIN Next LT Arabic" panose="020B0503020203050203" pitchFamily="34" charset="-78"/>
              </a:rPr>
              <a:t>Supervised by </a:t>
            </a:r>
            <a:r>
              <a:rPr lang="en-US" dirty="0" err="1">
                <a:solidFill>
                  <a:schemeClr val="bg1"/>
                </a:solidFill>
                <a:latin typeface="DIN Next LT Arabic" panose="020B0503020203050203" pitchFamily="34" charset="-78"/>
                <a:cs typeface="DIN Next LT Arabic" panose="020B0503020203050203" pitchFamily="34" charset="-78"/>
              </a:rPr>
              <a:t>Dr.Alogosiabi</a:t>
            </a:r>
            <a:endParaRPr lang="en-US" dirty="0">
              <a:solidFill>
                <a:schemeClr val="bg1"/>
              </a:solidFill>
              <a:latin typeface="DIN Next LT Arabic" panose="020B0503020203050203" pitchFamily="34" charset="-78"/>
              <a:cs typeface="DIN Next LT Arabic" panose="020B0503020203050203" pitchFamily="34"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Line">
            <a:extLst>
              <a:ext uri="{FF2B5EF4-FFF2-40B4-BE49-F238E27FC236}">
                <a16:creationId xmlns:a16="http://schemas.microsoft.com/office/drawing/2014/main" id="{009814FF-CDE8-7FF3-25D9-29F45EF8F277}"/>
              </a:ext>
            </a:extLst>
          </p:cNvPr>
          <p:cNvPicPr/>
          <p:nvPr/>
        </p:nvPicPr>
        <p:blipFill rotWithShape="1">
          <a:blip r:embed="rId3"/>
          <a:stretch>
            <a:fillRect/>
          </a:stretch>
        </p:blipFill>
        <p:spPr>
          <a:xfrm rot="5400000">
            <a:off x="2870439" y="3447994"/>
            <a:ext cx="4256927" cy="223924"/>
          </a:xfrm>
          <a:prstGeom prst="rect">
            <a:avLst/>
          </a:prstGeom>
        </p:spPr>
      </p:pic>
      <p:sp>
        <p:nvSpPr>
          <p:cNvPr id="8" name="Title 7">
            <a:extLst>
              <a:ext uri="{FF2B5EF4-FFF2-40B4-BE49-F238E27FC236}">
                <a16:creationId xmlns:a16="http://schemas.microsoft.com/office/drawing/2014/main" id="{2B1B18CF-10E1-EF51-3B7D-A2EC2C63E657}"/>
              </a:ext>
            </a:extLst>
          </p:cNvPr>
          <p:cNvSpPr>
            <a:spLocks noGrp="1"/>
          </p:cNvSpPr>
          <p:nvPr>
            <p:ph type="title"/>
          </p:nvPr>
        </p:nvSpPr>
        <p:spPr>
          <a:xfrm>
            <a:off x="838200" y="124691"/>
            <a:ext cx="10515600" cy="716973"/>
          </a:xfrm>
        </p:spPr>
        <p:txBody>
          <a:bodyPr/>
          <a:lstStyle/>
          <a:p>
            <a:pPr algn="ct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Agenda</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title copy">
            <a:extLst>
              <a:ext uri="{FF2B5EF4-FFF2-40B4-BE49-F238E27FC236}">
                <a16:creationId xmlns:a16="http://schemas.microsoft.com/office/drawing/2014/main" id="{0E2E960C-CF1F-4838-0350-4C3554BFCCB0}"/>
              </a:ext>
            </a:extLst>
          </p:cNvPr>
          <p:cNvSpPr/>
          <p:nvPr/>
        </p:nvSpPr>
        <p:spPr>
          <a:xfrm>
            <a:off x="1104687" y="1384498"/>
            <a:ext cx="3782255" cy="755651"/>
          </a:xfrm>
          <a:prstGeom prst="rect">
            <a:avLst/>
          </a:prstGeom>
        </p:spPr>
        <p:txBody>
          <a:bodyPr spcFirstLastPara="0" lIns="0" tIns="0" rIns="0" bIns="0" anchor="t"/>
          <a:lstStyle/>
          <a:p>
            <a:pPr algn="l" hangingPunct="0">
              <a:lnSpc>
                <a:spcPct val="100000"/>
              </a:lnSpc>
            </a:pPr>
            <a:r>
              <a:rPr lang="en-US" sz="4217" dirty="0">
                <a:solidFill>
                  <a:srgbClr val="0C3555"/>
                </a:solidFill>
                <a:latin typeface="Calibri" panose="020F0502020204030204" pitchFamily="34" charset="0"/>
                <a:ea typeface="Calibri" panose="020F0502020204030204" pitchFamily="34" charset="0"/>
                <a:cs typeface="Calibri" panose="020F0502020204030204" pitchFamily="34" charset="0"/>
              </a:rPr>
              <a:t>Milestone 3</a:t>
            </a:r>
          </a:p>
        </p:txBody>
      </p:sp>
      <p:pic>
        <p:nvPicPr>
          <p:cNvPr id="15" name="Line-24">
            <a:extLst>
              <a:ext uri="{FF2B5EF4-FFF2-40B4-BE49-F238E27FC236}">
                <a16:creationId xmlns:a16="http://schemas.microsoft.com/office/drawing/2014/main" id="{2559CF55-CE50-E637-584D-CC649D44E9BE}"/>
              </a:ext>
            </a:extLst>
          </p:cNvPr>
          <p:cNvPicPr/>
          <p:nvPr/>
        </p:nvPicPr>
        <p:blipFill rotWithShape="1">
          <a:blip r:embed="rId4"/>
          <a:stretch>
            <a:fillRect/>
          </a:stretch>
        </p:blipFill>
        <p:spPr>
          <a:xfrm rot="5400000">
            <a:off x="436265" y="1664902"/>
            <a:ext cx="755651" cy="138050"/>
          </a:xfrm>
          <a:prstGeom prst="rect">
            <a:avLst/>
          </a:prstGeom>
          <a:solidFill>
            <a:srgbClr val="C29943"/>
          </a:solidFill>
          <a:ln>
            <a:noFill/>
          </a:ln>
        </p:spPr>
      </p:pic>
      <p:sp>
        <p:nvSpPr>
          <p:cNvPr id="16" name="Diamond Container">
            <a:extLst>
              <a:ext uri="{FF2B5EF4-FFF2-40B4-BE49-F238E27FC236}">
                <a16:creationId xmlns:a16="http://schemas.microsoft.com/office/drawing/2014/main" id="{F3409237-BDC6-1C1A-1FCB-0EEDEB4C1A68}"/>
              </a:ext>
            </a:extLst>
          </p:cNvPr>
          <p:cNvSpPr/>
          <p:nvPr/>
        </p:nvSpPr>
        <p:spPr>
          <a:xfrm>
            <a:off x="4604681" y="1284814"/>
            <a:ext cx="874682" cy="874682"/>
          </a:xfrm>
          <a:prstGeom prst="ellipse">
            <a:avLst/>
          </a:prstGeom>
          <a:solidFill>
            <a:srgbClr val="106F77"/>
          </a:solidFill>
          <a:ln w="19050" cmpd="sng">
            <a:noFill/>
          </a:ln>
        </p:spPr>
        <p:txBody>
          <a:bodyPr spcFirstLastPara="0" lIns="0" tIns="0" rIns="0" bIns="0" anchor="ctr"/>
          <a:lstStyle/>
          <a:p>
            <a:pPr algn="ctr" hangingPunct="0">
              <a:lnSpc>
                <a:spcPct val="100000"/>
              </a:lnSpc>
            </a:pPr>
            <a:r>
              <a:rPr sz="2108" dirty="0">
                <a:solidFill>
                  <a:srgbClr val="FFFFFB"/>
                </a:solidFill>
                <a:latin typeface="Calibri" panose="020F0502020204030204" pitchFamily="34" charset="0"/>
                <a:ea typeface="Calibri" panose="020F0502020204030204" pitchFamily="34" charset="0"/>
                <a:cs typeface="Calibri" panose="020F0502020204030204" pitchFamily="34" charset="0"/>
              </a:rPr>
              <a:t>1</a:t>
            </a:r>
          </a:p>
        </p:txBody>
      </p:sp>
      <p:sp>
        <p:nvSpPr>
          <p:cNvPr id="25" name="Diamond Container">
            <a:extLst>
              <a:ext uri="{FF2B5EF4-FFF2-40B4-BE49-F238E27FC236}">
                <a16:creationId xmlns:a16="http://schemas.microsoft.com/office/drawing/2014/main" id="{A6FCB858-B8CB-20BD-F9D5-18846ED763E9}"/>
              </a:ext>
            </a:extLst>
          </p:cNvPr>
          <p:cNvSpPr/>
          <p:nvPr/>
        </p:nvSpPr>
        <p:spPr>
          <a:xfrm>
            <a:off x="4604680" y="2602646"/>
            <a:ext cx="874682" cy="874682"/>
          </a:xfrm>
          <a:prstGeom prst="ellipse">
            <a:avLst/>
          </a:prstGeom>
          <a:solidFill>
            <a:srgbClr val="106F77"/>
          </a:solidFill>
          <a:ln w="19050" cmpd="sng">
            <a:noFill/>
          </a:ln>
        </p:spPr>
        <p:txBody>
          <a:bodyPr spcFirstLastPara="0" lIns="0" tIns="0" rIns="0" bIns="0" anchor="ctr"/>
          <a:lstStyle/>
          <a:p>
            <a:pPr algn="ctr" hangingPunct="0">
              <a:lnSpc>
                <a:spcPct val="100000"/>
              </a:lnSpc>
            </a:pPr>
            <a:r>
              <a:rPr lang="en-US" sz="2108" dirty="0">
                <a:solidFill>
                  <a:srgbClr val="FFFFFB"/>
                </a:solidFill>
                <a:latin typeface="Calibri" panose="020F0502020204030204" pitchFamily="34" charset="0"/>
                <a:ea typeface="Calibri" panose="020F0502020204030204" pitchFamily="34" charset="0"/>
                <a:cs typeface="Calibri" panose="020F0502020204030204" pitchFamily="34" charset="0"/>
              </a:rPr>
              <a:t>2</a:t>
            </a:r>
            <a:endParaRPr sz="2108" dirty="0">
              <a:solidFill>
                <a:srgbClr val="FFFFFB"/>
              </a:solidFill>
              <a:latin typeface="Calibri" panose="020F0502020204030204" pitchFamily="34" charset="0"/>
              <a:ea typeface="Calibri" panose="020F0502020204030204" pitchFamily="34" charset="0"/>
              <a:cs typeface="Calibri" panose="020F0502020204030204" pitchFamily="34" charset="0"/>
            </a:endParaRPr>
          </a:p>
        </p:txBody>
      </p:sp>
      <p:sp>
        <p:nvSpPr>
          <p:cNvPr id="26" name="Diamond Container">
            <a:extLst>
              <a:ext uri="{FF2B5EF4-FFF2-40B4-BE49-F238E27FC236}">
                <a16:creationId xmlns:a16="http://schemas.microsoft.com/office/drawing/2014/main" id="{717E4D21-FFBB-7482-C010-FFED40129F11}"/>
              </a:ext>
            </a:extLst>
          </p:cNvPr>
          <p:cNvSpPr/>
          <p:nvPr/>
        </p:nvSpPr>
        <p:spPr>
          <a:xfrm>
            <a:off x="4604680" y="5232580"/>
            <a:ext cx="874682" cy="874682"/>
          </a:xfrm>
          <a:prstGeom prst="ellipse">
            <a:avLst/>
          </a:prstGeom>
          <a:solidFill>
            <a:srgbClr val="106F77"/>
          </a:solidFill>
          <a:ln w="19050" cmpd="sng">
            <a:noFill/>
          </a:ln>
        </p:spPr>
        <p:txBody>
          <a:bodyPr spcFirstLastPara="0" lIns="0" tIns="0" rIns="0" bIns="0" anchor="ctr"/>
          <a:lstStyle/>
          <a:p>
            <a:pPr algn="ctr" hangingPunct="0">
              <a:lnSpc>
                <a:spcPct val="100000"/>
              </a:lnSpc>
            </a:pPr>
            <a:r>
              <a:rPr lang="en-US" sz="2108" dirty="0">
                <a:solidFill>
                  <a:srgbClr val="FFFFFB"/>
                </a:solidFill>
                <a:latin typeface="Calibri" panose="020F0502020204030204" pitchFamily="34" charset="0"/>
                <a:ea typeface="Calibri" panose="020F0502020204030204" pitchFamily="34" charset="0"/>
                <a:cs typeface="Calibri" panose="020F0502020204030204" pitchFamily="34" charset="0"/>
              </a:rPr>
              <a:t>4</a:t>
            </a:r>
            <a:endParaRPr sz="2108" dirty="0">
              <a:solidFill>
                <a:srgbClr val="FFFFFB"/>
              </a:solidFill>
              <a:latin typeface="Calibri" panose="020F0502020204030204" pitchFamily="34" charset="0"/>
              <a:ea typeface="Calibri" panose="020F0502020204030204" pitchFamily="34" charset="0"/>
              <a:cs typeface="Calibri" panose="020F0502020204030204" pitchFamily="34" charset="0"/>
            </a:endParaRPr>
          </a:p>
        </p:txBody>
      </p:sp>
      <p:sp>
        <p:nvSpPr>
          <p:cNvPr id="28" name="Diamond Container">
            <a:extLst>
              <a:ext uri="{FF2B5EF4-FFF2-40B4-BE49-F238E27FC236}">
                <a16:creationId xmlns:a16="http://schemas.microsoft.com/office/drawing/2014/main" id="{F68AF533-DF72-12E6-87E3-175831112627}"/>
              </a:ext>
            </a:extLst>
          </p:cNvPr>
          <p:cNvSpPr/>
          <p:nvPr/>
        </p:nvSpPr>
        <p:spPr>
          <a:xfrm>
            <a:off x="4604680" y="3917613"/>
            <a:ext cx="874682" cy="874682"/>
          </a:xfrm>
          <a:prstGeom prst="ellipse">
            <a:avLst/>
          </a:prstGeom>
          <a:solidFill>
            <a:srgbClr val="106F77"/>
          </a:solidFill>
          <a:ln w="19050" cmpd="sng">
            <a:noFill/>
          </a:ln>
        </p:spPr>
        <p:txBody>
          <a:bodyPr spcFirstLastPara="0" lIns="0" tIns="0" rIns="0" bIns="0" anchor="ctr"/>
          <a:lstStyle/>
          <a:p>
            <a:pPr algn="ctr" hangingPunct="0">
              <a:lnSpc>
                <a:spcPct val="100000"/>
              </a:lnSpc>
            </a:pPr>
            <a:r>
              <a:rPr lang="en-US" sz="2108" dirty="0">
                <a:solidFill>
                  <a:srgbClr val="FFFFFB"/>
                </a:solidFill>
                <a:latin typeface="Calibri" panose="020F0502020204030204" pitchFamily="34" charset="0"/>
                <a:ea typeface="Calibri" panose="020F0502020204030204" pitchFamily="34" charset="0"/>
                <a:cs typeface="Calibri" panose="020F0502020204030204" pitchFamily="34" charset="0"/>
              </a:rPr>
              <a:t>3</a:t>
            </a:r>
            <a:endParaRPr sz="2108" dirty="0">
              <a:solidFill>
                <a:srgbClr val="FFFFFB"/>
              </a:solidFill>
              <a:latin typeface="Calibri" panose="020F0502020204030204" pitchFamily="34" charset="0"/>
              <a:ea typeface="Calibri" panose="020F0502020204030204" pitchFamily="34" charset="0"/>
              <a:cs typeface="Calibri" panose="020F0502020204030204" pitchFamily="34" charset="0"/>
            </a:endParaRPr>
          </a:p>
        </p:txBody>
      </p:sp>
      <p:sp>
        <p:nvSpPr>
          <p:cNvPr id="33" name="title copy">
            <a:extLst>
              <a:ext uri="{FF2B5EF4-FFF2-40B4-BE49-F238E27FC236}">
                <a16:creationId xmlns:a16="http://schemas.microsoft.com/office/drawing/2014/main" id="{7C3EB8F4-26D4-E8CA-13EA-06BCA0F8EC62}"/>
              </a:ext>
            </a:extLst>
          </p:cNvPr>
          <p:cNvSpPr/>
          <p:nvPr/>
        </p:nvSpPr>
        <p:spPr>
          <a:xfrm>
            <a:off x="5709539" y="1577891"/>
            <a:ext cx="5641797" cy="312072"/>
          </a:xfrm>
          <a:prstGeom prst="rect">
            <a:avLst/>
          </a:prstGeom>
        </p:spPr>
        <p:txBody>
          <a:bodyPr spcFirstLastPara="0" lIns="0" tIns="0" rIns="0" bIns="0" anchor="t"/>
          <a:lstStyle/>
          <a:p>
            <a:pPr hangingPunct="0"/>
            <a:r>
              <a:rPr lang="en-US" sz="2108" dirty="0">
                <a:solidFill>
                  <a:srgbClr val="0C3555"/>
                </a:solidFill>
                <a:latin typeface="Calibri" panose="020F0502020204030204" pitchFamily="34" charset="0"/>
                <a:ea typeface="Calibri" panose="020F0502020204030204" pitchFamily="34" charset="0"/>
                <a:cs typeface="Calibri" panose="020F0502020204030204" pitchFamily="34" charset="0"/>
              </a:rPr>
              <a:t>Details of partial implementation</a:t>
            </a:r>
          </a:p>
        </p:txBody>
      </p:sp>
      <p:sp>
        <p:nvSpPr>
          <p:cNvPr id="42" name="title copy">
            <a:extLst>
              <a:ext uri="{FF2B5EF4-FFF2-40B4-BE49-F238E27FC236}">
                <a16:creationId xmlns:a16="http://schemas.microsoft.com/office/drawing/2014/main" id="{127AD7E3-87F6-4274-8E4A-52659247090A}"/>
              </a:ext>
            </a:extLst>
          </p:cNvPr>
          <p:cNvSpPr/>
          <p:nvPr/>
        </p:nvSpPr>
        <p:spPr>
          <a:xfrm>
            <a:off x="5709541" y="2712027"/>
            <a:ext cx="5641796" cy="716973"/>
          </a:xfrm>
          <a:prstGeom prst="rect">
            <a:avLst/>
          </a:prstGeom>
        </p:spPr>
        <p:txBody>
          <a:bodyPr spcFirstLastPara="0" lIns="0" tIns="0" rIns="0" bIns="0" anchor="t"/>
          <a:lstStyle/>
          <a:p>
            <a:pPr hangingPunct="0">
              <a:lnSpc>
                <a:spcPct val="100000"/>
              </a:lnSpc>
            </a:pPr>
            <a:endParaRPr lang="en-US" sz="2108" dirty="0">
              <a:solidFill>
                <a:srgbClr val="0C3555"/>
              </a:solidFill>
              <a:latin typeface="Calibri" panose="020F0502020204030204" pitchFamily="34" charset="0"/>
              <a:ea typeface="Calibri" panose="020F0502020204030204" pitchFamily="34" charset="0"/>
              <a:cs typeface="Calibri" panose="020F0502020204030204" pitchFamily="34" charset="0"/>
            </a:endParaRPr>
          </a:p>
        </p:txBody>
      </p:sp>
      <p:sp>
        <p:nvSpPr>
          <p:cNvPr id="43" name="title copy">
            <a:extLst>
              <a:ext uri="{FF2B5EF4-FFF2-40B4-BE49-F238E27FC236}">
                <a16:creationId xmlns:a16="http://schemas.microsoft.com/office/drawing/2014/main" id="{CED25BB5-6EB8-C2AB-4742-135C69EE2FA4}"/>
              </a:ext>
            </a:extLst>
          </p:cNvPr>
          <p:cNvSpPr/>
          <p:nvPr/>
        </p:nvSpPr>
        <p:spPr>
          <a:xfrm>
            <a:off x="5709539" y="4145575"/>
            <a:ext cx="5641796" cy="418758"/>
          </a:xfrm>
          <a:prstGeom prst="rect">
            <a:avLst/>
          </a:prstGeom>
        </p:spPr>
        <p:txBody>
          <a:bodyPr spcFirstLastPara="0" lIns="0" tIns="0" rIns="0" bIns="0" anchor="t"/>
          <a:lstStyle/>
          <a:p>
            <a:pPr hangingPunct="0">
              <a:lnSpc>
                <a:spcPct val="100000"/>
              </a:lnSpc>
            </a:pPr>
            <a:r>
              <a:rPr lang="en-US" sz="2108" dirty="0">
                <a:solidFill>
                  <a:srgbClr val="0C3555"/>
                </a:solidFill>
                <a:latin typeface="Calibri" panose="020F0502020204030204" pitchFamily="34" charset="0"/>
                <a:ea typeface="Calibri" panose="020F0502020204030204" pitchFamily="34" charset="0"/>
                <a:cs typeface="Calibri" panose="020F0502020204030204" pitchFamily="34" charset="0"/>
              </a:rPr>
              <a:t>Preliminary Outcomes/Results</a:t>
            </a:r>
            <a:endParaRPr sz="2108" dirty="0">
              <a:solidFill>
                <a:srgbClr val="0C3555"/>
              </a:solidFill>
              <a:latin typeface="Calibri" panose="020F0502020204030204" pitchFamily="34" charset="0"/>
              <a:ea typeface="Calibri" panose="020F0502020204030204" pitchFamily="34" charset="0"/>
              <a:cs typeface="Calibri" panose="020F0502020204030204" pitchFamily="34" charset="0"/>
            </a:endParaRPr>
          </a:p>
        </p:txBody>
      </p:sp>
      <p:sp>
        <p:nvSpPr>
          <p:cNvPr id="45" name="title copy">
            <a:extLst>
              <a:ext uri="{FF2B5EF4-FFF2-40B4-BE49-F238E27FC236}">
                <a16:creationId xmlns:a16="http://schemas.microsoft.com/office/drawing/2014/main" id="{7500DCB4-B295-1F25-3602-659FE0255443}"/>
              </a:ext>
            </a:extLst>
          </p:cNvPr>
          <p:cNvSpPr/>
          <p:nvPr/>
        </p:nvSpPr>
        <p:spPr>
          <a:xfrm>
            <a:off x="5709539" y="5475233"/>
            <a:ext cx="5641796" cy="418758"/>
          </a:xfrm>
          <a:prstGeom prst="rect">
            <a:avLst/>
          </a:prstGeom>
        </p:spPr>
        <p:txBody>
          <a:bodyPr spcFirstLastPara="0" lIns="0" tIns="0" rIns="0" bIns="0" anchor="t"/>
          <a:lstStyle/>
          <a:p>
            <a:pPr hangingPunct="0">
              <a:lnSpc>
                <a:spcPct val="100000"/>
              </a:lnSpc>
            </a:pPr>
            <a:r>
              <a:rPr lang="en-US" sz="2108" dirty="0">
                <a:solidFill>
                  <a:srgbClr val="0C3555"/>
                </a:solidFill>
                <a:latin typeface="Calibri" panose="020F0502020204030204" pitchFamily="34" charset="0"/>
                <a:ea typeface="Calibri" panose="020F0502020204030204" pitchFamily="34" charset="0"/>
                <a:cs typeface="Calibri" panose="020F0502020204030204" pitchFamily="34" charset="0"/>
              </a:rPr>
              <a:t>Intermediate Conclusions and What’s Next</a:t>
            </a:r>
          </a:p>
        </p:txBody>
      </p:sp>
      <p:sp>
        <p:nvSpPr>
          <p:cNvPr id="2" name="title copy">
            <a:extLst>
              <a:ext uri="{FF2B5EF4-FFF2-40B4-BE49-F238E27FC236}">
                <a16:creationId xmlns:a16="http://schemas.microsoft.com/office/drawing/2014/main" id="{E4E33086-F2AC-F56B-B1F9-706335C475C6}"/>
              </a:ext>
            </a:extLst>
          </p:cNvPr>
          <p:cNvSpPr/>
          <p:nvPr/>
        </p:nvSpPr>
        <p:spPr>
          <a:xfrm>
            <a:off x="5709540" y="2881086"/>
            <a:ext cx="5641797" cy="312072"/>
          </a:xfrm>
          <a:prstGeom prst="rect">
            <a:avLst/>
          </a:prstGeom>
        </p:spPr>
        <p:txBody>
          <a:bodyPr spcFirstLastPara="0" lIns="0" tIns="0" rIns="0" bIns="0" anchor="t"/>
          <a:lstStyle/>
          <a:p>
            <a:pPr hangingPunct="0"/>
            <a:r>
              <a:rPr lang="en-US" sz="2108" dirty="0">
                <a:solidFill>
                  <a:srgbClr val="0C3555"/>
                </a:solidFill>
                <a:latin typeface="Calibri" panose="020F0502020204030204" pitchFamily="34" charset="0"/>
                <a:ea typeface="Calibri" panose="020F0502020204030204" pitchFamily="34" charset="0"/>
                <a:cs typeface="Calibri" panose="020F0502020204030204" pitchFamily="34" charset="0"/>
              </a:rPr>
              <a:t>Tools &amp; Techniques used in Implementation</a:t>
            </a:r>
          </a:p>
        </p:txBody>
      </p:sp>
    </p:spTree>
    <p:extLst>
      <p:ext uri="{BB962C8B-B14F-4D97-AF65-F5344CB8AC3E}">
        <p14:creationId xmlns:p14="http://schemas.microsoft.com/office/powerpoint/2010/main" val="4175715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500"/>
                                        <p:tgtEl>
                                          <p:spTgt spid="3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33"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9EFEA-CEC5-BA43-0CAD-B373C810716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CE82E05-1C1C-DCAF-A3B1-0C14D5D3ACCC}"/>
              </a:ext>
            </a:extLst>
          </p:cNvPr>
          <p:cNvSpPr>
            <a:spLocks noGrp="1"/>
          </p:cNvSpPr>
          <p:nvPr>
            <p:ph type="title"/>
          </p:nvPr>
        </p:nvSpPr>
        <p:spPr>
          <a:xfrm>
            <a:off x="838200" y="18255"/>
            <a:ext cx="10515600" cy="873567"/>
          </a:xfrm>
        </p:spPr>
        <p:txBody>
          <a:bodyPr/>
          <a:lstStyle/>
          <a:p>
            <a:pPr algn="ct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Project Recap</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 Placeholder 1">
            <a:extLst>
              <a:ext uri="{FF2B5EF4-FFF2-40B4-BE49-F238E27FC236}">
                <a16:creationId xmlns:a16="http://schemas.microsoft.com/office/drawing/2014/main" id="{2623F467-9FCD-632A-4641-C7BE592FA8E8}"/>
              </a:ext>
            </a:extLst>
          </p:cNvPr>
          <p:cNvSpPr>
            <a:spLocks noGrp="1"/>
          </p:cNvSpPr>
          <p:nvPr>
            <p:ph type="body" idx="1"/>
          </p:nvPr>
        </p:nvSpPr>
        <p:spPr>
          <a:xfrm>
            <a:off x="838200" y="1382233"/>
            <a:ext cx="10515600" cy="4794730"/>
          </a:xfrm>
        </p:spPr>
        <p:txBody>
          <a:bodyPr/>
          <a:lstStyle/>
          <a:p>
            <a:pPr marL="50800" indent="0">
              <a:buNone/>
            </a:pPr>
            <a:r>
              <a:rPr lang="en-US" sz="2400" b="1" dirty="0"/>
              <a:t>Problem Context</a:t>
            </a:r>
          </a:p>
          <a:p>
            <a:r>
              <a:rPr lang="en-US" sz="2000" dirty="0"/>
              <a:t>The project addresses several pressing issues threatening the agricultural heritage of the Al-Ahsa Oasis:</a:t>
            </a:r>
          </a:p>
          <a:p>
            <a:pPr marL="50800" indent="0">
              <a:buNone/>
            </a:pPr>
            <a:endParaRPr lang="en-US" sz="2000" dirty="0"/>
          </a:p>
          <a:p>
            <a:pPr lvl="1"/>
            <a:r>
              <a:rPr lang="en-US" sz="1800" b="1" dirty="0"/>
              <a:t>Critical Knowledge Gap</a:t>
            </a:r>
            <a:r>
              <a:rPr lang="en-US" sz="1800" dirty="0"/>
              <a:t>: </a:t>
            </a:r>
            <a:r>
              <a:rPr lang="en-US" sz="1600" dirty="0"/>
              <a:t>The region faces a significant loss of  local agricultural expertise due to an aging workforce, where 26.9% of workers are over 55, coupled with a heavy reliance on non-expert migrant labor</a:t>
            </a:r>
          </a:p>
          <a:p>
            <a:pPr marL="533400" lvl="1" indent="0">
              <a:buNone/>
            </a:pPr>
            <a:endParaRPr lang="en-GB" sz="1600" b="1" dirty="0"/>
          </a:p>
          <a:p>
            <a:pPr lvl="1"/>
            <a:r>
              <a:rPr lang="en-US" b="1" dirty="0"/>
              <a:t> </a:t>
            </a:r>
            <a:r>
              <a:rPr lang="en-US" sz="1800" b="1" dirty="0"/>
              <a:t>Identification Challenge:</a:t>
            </a:r>
            <a:r>
              <a:rPr lang="en-US" sz="1600" b="1" dirty="0"/>
              <a:t> </a:t>
            </a:r>
            <a:r>
              <a:rPr lang="en-US" sz="1600" dirty="0"/>
              <a:t>It is highly difficult, even for agricultural experts, to visually distinguish between similar palm tree</a:t>
            </a:r>
            <a:r>
              <a:rPr lang="en-US" sz="1400" dirty="0"/>
              <a:t> </a:t>
            </a:r>
            <a:r>
              <a:rPr lang="en-US" sz="1600" dirty="0"/>
              <a:t>types, which is essential for determining their economic value.</a:t>
            </a:r>
            <a:endParaRPr lang="en-GB" sz="1600" dirty="0"/>
          </a:p>
          <a:p>
            <a:pPr lvl="1"/>
            <a:endParaRPr lang="en-GB" sz="1000" b="1" dirty="0"/>
          </a:p>
          <a:p>
            <a:pPr lvl="1"/>
            <a:r>
              <a:rPr lang="en-US" sz="1800" b="1" dirty="0"/>
              <a:t>Lack of Preservation</a:t>
            </a:r>
            <a:r>
              <a:rPr lang="en-US" sz="1800" dirty="0"/>
              <a:t>:</a:t>
            </a:r>
            <a:r>
              <a:rPr lang="en-US" sz="1050" dirty="0"/>
              <a:t> </a:t>
            </a:r>
            <a:r>
              <a:rPr lang="en-US" sz="1600" dirty="0"/>
              <a:t>Currently, there are no adequate digital systems in place to capture, structure, and preserve this unique agricultural heritage for future generations.</a:t>
            </a:r>
            <a:endParaRPr lang="en-GB" sz="1600" b="1" dirty="0"/>
          </a:p>
          <a:p>
            <a:pPr marL="50800" indent="0">
              <a:buNone/>
            </a:pPr>
            <a:endParaRPr lang="en-GB" sz="1400" dirty="0"/>
          </a:p>
        </p:txBody>
      </p:sp>
    </p:spTree>
    <p:extLst>
      <p:ext uri="{BB962C8B-B14F-4D97-AF65-F5344CB8AC3E}">
        <p14:creationId xmlns:p14="http://schemas.microsoft.com/office/powerpoint/2010/main" val="1579408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C7692-62B9-6D90-0452-B2EAF640FEC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BF331D5-408E-FD0B-CE8F-A6E5A71E10D0}"/>
              </a:ext>
            </a:extLst>
          </p:cNvPr>
          <p:cNvSpPr>
            <a:spLocks noGrp="1"/>
          </p:cNvSpPr>
          <p:nvPr>
            <p:ph type="title"/>
          </p:nvPr>
        </p:nvSpPr>
        <p:spPr>
          <a:xfrm>
            <a:off x="838200" y="18255"/>
            <a:ext cx="10515600" cy="873567"/>
          </a:xfrm>
        </p:spPr>
        <p:txBody>
          <a:bodyPr/>
          <a:lstStyle/>
          <a:p>
            <a:pPr algn="ct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Project Recap</a:t>
            </a:r>
            <a:endParaRPr lang="en-GB"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 Placeholder 1">
            <a:extLst>
              <a:ext uri="{FF2B5EF4-FFF2-40B4-BE49-F238E27FC236}">
                <a16:creationId xmlns:a16="http://schemas.microsoft.com/office/drawing/2014/main" id="{2AB038FB-3EC0-7E1D-590D-A0BA10747F23}"/>
              </a:ext>
            </a:extLst>
          </p:cNvPr>
          <p:cNvSpPr>
            <a:spLocks noGrp="1"/>
          </p:cNvSpPr>
          <p:nvPr>
            <p:ph type="body" idx="1"/>
          </p:nvPr>
        </p:nvSpPr>
        <p:spPr>
          <a:xfrm>
            <a:off x="838200" y="1382233"/>
            <a:ext cx="10515600" cy="4794730"/>
          </a:xfrm>
        </p:spPr>
        <p:txBody>
          <a:bodyPr/>
          <a:lstStyle/>
          <a:p>
            <a:pPr marL="50800" indent="0">
              <a:buNone/>
            </a:pPr>
            <a:r>
              <a:rPr lang="en-US" sz="2400" b="1" dirty="0"/>
              <a:t>Project Overview (The Solution) </a:t>
            </a:r>
          </a:p>
          <a:p>
            <a:r>
              <a:rPr lang="en-US" sz="2000" dirty="0"/>
              <a:t>To combat these challenges, the project proposes a "Semantic AI Framework for Palm Tree Variety Classification and Knowledge Retrieval“.</a:t>
            </a:r>
          </a:p>
          <a:p>
            <a:pPr marL="50800" indent="0">
              <a:buNone/>
            </a:pPr>
            <a:endParaRPr lang="en-US" sz="2000" dirty="0"/>
          </a:p>
          <a:p>
            <a:pPr lvl="1"/>
            <a:r>
              <a:rPr lang="en-US" sz="1800" b="1" dirty="0"/>
              <a:t>Core System</a:t>
            </a:r>
            <a:r>
              <a:rPr lang="en-US" sz="1800" dirty="0"/>
              <a:t>: </a:t>
            </a:r>
            <a:r>
              <a:rPr lang="en-US" sz="1600" dirty="0"/>
              <a:t>The solution is an intelligent system that integrates Computer Vision (CV) with Retrieval-Augmented Generation (RAG).</a:t>
            </a:r>
          </a:p>
          <a:p>
            <a:pPr marL="533400" lvl="1" indent="0">
              <a:buNone/>
            </a:pPr>
            <a:endParaRPr lang="en-GB" sz="1600" b="1" dirty="0"/>
          </a:p>
          <a:p>
            <a:pPr lvl="1"/>
            <a:r>
              <a:rPr lang="en-US" sz="2000" b="1" dirty="0"/>
              <a:t>Scope:</a:t>
            </a:r>
            <a:r>
              <a:rPr lang="en-US" sz="1800" b="1" dirty="0"/>
              <a:t> </a:t>
            </a:r>
            <a:r>
              <a:rPr lang="en-US" sz="1600" dirty="0"/>
              <a:t>The framework specifically focuses on classifying and documenting three primary Al-Ahsa palm varieties: </a:t>
            </a:r>
            <a:r>
              <a:rPr lang="en-US" sz="1600" dirty="0" err="1"/>
              <a:t>Khalas</a:t>
            </a:r>
            <a:r>
              <a:rPr lang="en-US" sz="1600" dirty="0"/>
              <a:t>, </a:t>
            </a:r>
            <a:r>
              <a:rPr lang="en-US" sz="1600" dirty="0" err="1"/>
              <a:t>Shishi</a:t>
            </a:r>
            <a:r>
              <a:rPr lang="en-US" sz="1600" dirty="0"/>
              <a:t> and </a:t>
            </a:r>
            <a:r>
              <a:rPr lang="en-US" sz="1600" dirty="0" err="1"/>
              <a:t>Reziz</a:t>
            </a:r>
            <a:r>
              <a:rPr lang="en-US" sz="1600" dirty="0"/>
              <a:t>.</a:t>
            </a:r>
            <a:endParaRPr lang="en-GB" sz="1000" b="1" dirty="0"/>
          </a:p>
          <a:p>
            <a:pPr marL="533400" lvl="1" indent="0">
              <a:buNone/>
            </a:pPr>
            <a:endParaRPr lang="en-GB" sz="1000" b="1" dirty="0"/>
          </a:p>
          <a:p>
            <a:pPr lvl="1"/>
            <a:r>
              <a:rPr lang="en-US" sz="1600" b="1" dirty="0"/>
              <a:t>Primary Goal</a:t>
            </a:r>
            <a:r>
              <a:rPr lang="en-US" sz="1600" dirty="0"/>
              <a:t>: The ultimate objective is to digitally document, store, and protect the agricultural heritage of Al-Ahsa, directly supporting the goals of Vision 2030.</a:t>
            </a:r>
            <a:endParaRPr lang="en-GB" sz="1400" dirty="0"/>
          </a:p>
        </p:txBody>
      </p:sp>
    </p:spTree>
    <p:extLst>
      <p:ext uri="{BB962C8B-B14F-4D97-AF65-F5344CB8AC3E}">
        <p14:creationId xmlns:p14="http://schemas.microsoft.com/office/powerpoint/2010/main" val="1832161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7703C-61A9-681F-0465-5CE90F5E359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FF94742-B930-6891-C4CF-3DE7C8180C92}"/>
              </a:ext>
            </a:extLst>
          </p:cNvPr>
          <p:cNvSpPr>
            <a:spLocks noGrp="1"/>
          </p:cNvSpPr>
          <p:nvPr>
            <p:ph type="title"/>
          </p:nvPr>
        </p:nvSpPr>
        <p:spPr>
          <a:xfrm>
            <a:off x="838200" y="18255"/>
            <a:ext cx="10515600" cy="873567"/>
          </a:xfrm>
        </p:spPr>
        <p:txBody>
          <a:bodyPr/>
          <a:lstStyle/>
          <a:p>
            <a:pPr algn="ct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Details of Partial </a:t>
            </a:r>
            <a:r>
              <a:rPr lang="en-US" dirty="0">
                <a:latin typeface="Calibri" panose="020F0502020204030204" pitchFamily="34" charset="0"/>
                <a:ea typeface="Calibri" panose="020F0502020204030204" pitchFamily="34" charset="0"/>
                <a:cs typeface="Calibri" panose="020F0502020204030204" pitchFamily="34" charset="0"/>
              </a:rPr>
              <a:t>I</a:t>
            </a: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mplementation</a:t>
            </a:r>
          </a:p>
        </p:txBody>
      </p:sp>
      <p:sp>
        <p:nvSpPr>
          <p:cNvPr id="2" name="Text Placeholder 1">
            <a:extLst>
              <a:ext uri="{FF2B5EF4-FFF2-40B4-BE49-F238E27FC236}">
                <a16:creationId xmlns:a16="http://schemas.microsoft.com/office/drawing/2014/main" id="{D389A29B-6631-488F-C819-39008684BC37}"/>
              </a:ext>
            </a:extLst>
          </p:cNvPr>
          <p:cNvSpPr>
            <a:spLocks noGrp="1"/>
          </p:cNvSpPr>
          <p:nvPr>
            <p:ph type="body" idx="1"/>
          </p:nvPr>
        </p:nvSpPr>
        <p:spPr>
          <a:xfrm>
            <a:off x="838200" y="1360967"/>
            <a:ext cx="10515600" cy="4815996"/>
          </a:xfrm>
        </p:spPr>
        <p:txBody>
          <a:bodyPr/>
          <a:lstStyle/>
          <a:p>
            <a:pPr marL="50800" indent="0">
              <a:buNone/>
            </a:pPr>
            <a:r>
              <a:rPr lang="en-US" sz="2000" b="1" dirty="0"/>
              <a:t>Vision Module (</a:t>
            </a:r>
            <a:r>
              <a:rPr lang="en-US" sz="2000" b="1" dirty="0" err="1"/>
              <a:t>ConvNeXt</a:t>
            </a:r>
            <a:r>
              <a:rPr lang="en-US" sz="2000" b="1" dirty="0"/>
              <a:t> Small)</a:t>
            </a:r>
          </a:p>
          <a:p>
            <a:pPr marL="50800" indent="0">
              <a:buNone/>
            </a:pPr>
            <a:endParaRPr lang="en-US" sz="1800" b="1" dirty="0"/>
          </a:p>
          <a:p>
            <a:r>
              <a:rPr lang="en-US" sz="1800" b="1" dirty="0"/>
              <a:t>Proposed Architecture:</a:t>
            </a:r>
            <a:r>
              <a:rPr lang="en-US" sz="1800" dirty="0"/>
              <a:t> Milestone 2 defined a pipeline starting with Preprocessing &amp; Augmentation (resizing to 224x224, Test Time Augmentation, and normalization) feeding into an Inference Engine powered by a Fine-tuned </a:t>
            </a:r>
            <a:r>
              <a:rPr lang="en-US" sz="1800" dirty="0" err="1"/>
              <a:t>ConvNeXt</a:t>
            </a:r>
            <a:r>
              <a:rPr lang="en-US" sz="1800" dirty="0"/>
              <a:t> Small model.</a:t>
            </a:r>
          </a:p>
          <a:p>
            <a:pPr marL="50800" indent="0">
              <a:buNone/>
            </a:pPr>
            <a:endParaRPr lang="en-US" sz="1800" dirty="0"/>
          </a:p>
          <a:p>
            <a:r>
              <a:rPr lang="en-US" sz="1800" b="1" dirty="0"/>
              <a:t>Implementation Details:</a:t>
            </a:r>
            <a:r>
              <a:rPr lang="en-US" sz="1800" dirty="0"/>
              <a:t> The developed module successfully executes this pipeline. We implemented the Custom Classifier Head, utilizing a dropout layer (p = 0.6) and a linear fully connected layer to map the 768-dimensional feature vector to our three target classes: </a:t>
            </a:r>
            <a:r>
              <a:rPr lang="en-US" sz="1800" dirty="0" err="1"/>
              <a:t>Khalas</a:t>
            </a:r>
            <a:r>
              <a:rPr lang="en-US" sz="1800" dirty="0"/>
              <a:t>, </a:t>
            </a:r>
            <a:r>
              <a:rPr lang="en-US" sz="1800" dirty="0" err="1"/>
              <a:t>Razeez</a:t>
            </a:r>
            <a:r>
              <a:rPr lang="en-US" sz="1800" dirty="0"/>
              <a:t>, and </a:t>
            </a:r>
            <a:r>
              <a:rPr lang="en-US" sz="1800" dirty="0" err="1"/>
              <a:t>Shishi</a:t>
            </a:r>
            <a:r>
              <a:rPr lang="en-US" sz="1800" dirty="0"/>
              <a:t>.</a:t>
            </a:r>
          </a:p>
          <a:p>
            <a:pPr marL="50800" indent="0">
              <a:buNone/>
            </a:pPr>
            <a:endParaRPr lang="en-US" sz="1800" dirty="0"/>
          </a:p>
          <a:p>
            <a:r>
              <a:rPr lang="en-US" sz="1800" b="1" dirty="0"/>
              <a:t>Design Conformity:</a:t>
            </a:r>
            <a:r>
              <a:rPr lang="en-US" sz="1800" dirty="0"/>
              <a:t> The training phase adhered strictly to the proposed roadmap, utilizing 5-Fold Cross-Validation alongside </a:t>
            </a:r>
            <a:r>
              <a:rPr lang="en-US" sz="1800" dirty="0" err="1"/>
              <a:t>MixUp</a:t>
            </a:r>
            <a:r>
              <a:rPr lang="en-US" sz="1800" dirty="0"/>
              <a:t> augmentation and Cosine Annealing to ensure robust feature extraction and prevent overfitting.</a:t>
            </a:r>
          </a:p>
        </p:txBody>
      </p:sp>
    </p:spTree>
    <p:extLst>
      <p:ext uri="{BB962C8B-B14F-4D97-AF65-F5344CB8AC3E}">
        <p14:creationId xmlns:p14="http://schemas.microsoft.com/office/powerpoint/2010/main" val="2957933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86D47-5A78-CBFE-D6E7-7DBDDEF28BB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DE9729D-7F0D-258B-2737-CDC1E47EA15A}"/>
              </a:ext>
            </a:extLst>
          </p:cNvPr>
          <p:cNvSpPr>
            <a:spLocks noGrp="1"/>
          </p:cNvSpPr>
          <p:nvPr>
            <p:ph type="title"/>
          </p:nvPr>
        </p:nvSpPr>
        <p:spPr>
          <a:xfrm>
            <a:off x="838200" y="18255"/>
            <a:ext cx="10515600" cy="873567"/>
          </a:xfrm>
        </p:spPr>
        <p:txBody>
          <a:bodyPr/>
          <a:lstStyle/>
          <a:p>
            <a:pPr algn="ct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Details of Partial </a:t>
            </a:r>
            <a:r>
              <a:rPr lang="en-US" dirty="0">
                <a:latin typeface="Calibri" panose="020F0502020204030204" pitchFamily="34" charset="0"/>
                <a:ea typeface="Calibri" panose="020F0502020204030204" pitchFamily="34" charset="0"/>
                <a:cs typeface="Calibri" panose="020F0502020204030204" pitchFamily="34" charset="0"/>
              </a:rPr>
              <a:t>I</a:t>
            </a: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mplementation</a:t>
            </a:r>
          </a:p>
        </p:txBody>
      </p:sp>
      <p:sp>
        <p:nvSpPr>
          <p:cNvPr id="2" name="Text Placeholder 1">
            <a:extLst>
              <a:ext uri="{FF2B5EF4-FFF2-40B4-BE49-F238E27FC236}">
                <a16:creationId xmlns:a16="http://schemas.microsoft.com/office/drawing/2014/main" id="{127576C8-7D3E-2DCF-F17D-4B2C7C5F1522}"/>
              </a:ext>
            </a:extLst>
          </p:cNvPr>
          <p:cNvSpPr>
            <a:spLocks noGrp="1"/>
          </p:cNvSpPr>
          <p:nvPr>
            <p:ph type="body" idx="1"/>
          </p:nvPr>
        </p:nvSpPr>
        <p:spPr>
          <a:xfrm>
            <a:off x="838200" y="1360967"/>
            <a:ext cx="10515600" cy="4815996"/>
          </a:xfrm>
        </p:spPr>
        <p:txBody>
          <a:bodyPr/>
          <a:lstStyle/>
          <a:p>
            <a:pPr marL="50800" indent="0">
              <a:buNone/>
            </a:pPr>
            <a:r>
              <a:rPr lang="en-US" sz="2000" b="1" dirty="0"/>
              <a:t>Semantic Knowledge Retrieval (RAG)</a:t>
            </a:r>
          </a:p>
          <a:p>
            <a:pPr marL="50800" indent="0">
              <a:buNone/>
            </a:pPr>
            <a:endParaRPr lang="en-US" sz="1800" b="1" dirty="0"/>
          </a:p>
          <a:p>
            <a:r>
              <a:rPr lang="en-US" sz="1800" b="1" dirty="0"/>
              <a:t>Proposed Architecture:</a:t>
            </a:r>
            <a:r>
              <a:rPr lang="en-US" sz="1800" dirty="0"/>
              <a:t> The design required an Ingestion Engine for text chunking and embedding, Semantic Storage via a Vector Database, and a Retrieval Chain orchestrated by </a:t>
            </a:r>
            <a:r>
              <a:rPr lang="en-US" sz="1800" dirty="0" err="1"/>
              <a:t>LangChain</a:t>
            </a:r>
            <a:r>
              <a:rPr lang="en-US" sz="1800" dirty="0"/>
              <a:t>.</a:t>
            </a:r>
          </a:p>
          <a:p>
            <a:pPr marL="50800" indent="0">
              <a:buNone/>
            </a:pPr>
            <a:endParaRPr lang="en-US" sz="1800" dirty="0"/>
          </a:p>
          <a:p>
            <a:r>
              <a:rPr lang="en-US" sz="1800" b="1" dirty="0"/>
              <a:t>Implementation Details:</a:t>
            </a:r>
            <a:r>
              <a:rPr lang="en-US" sz="1800" dirty="0"/>
              <a:t> We built the text ingestion pipeline to process the curated agricultural guides and research papers. The system successfully chunks these documents and creates vector embeddings stored in </a:t>
            </a:r>
            <a:r>
              <a:rPr lang="en-US" sz="1800" dirty="0" err="1"/>
              <a:t>ChromaDB</a:t>
            </a:r>
            <a:r>
              <a:rPr lang="en-US" sz="1800" dirty="0"/>
              <a:t>.</a:t>
            </a:r>
          </a:p>
          <a:p>
            <a:pPr marL="50800" indent="0">
              <a:buNone/>
            </a:pPr>
            <a:endParaRPr lang="en-US" sz="1800" dirty="0"/>
          </a:p>
          <a:p>
            <a:r>
              <a:rPr lang="en-US" sz="1800" b="1" dirty="0"/>
              <a:t>Design Conformity:</a:t>
            </a:r>
            <a:r>
              <a:rPr lang="en-US" sz="1800" dirty="0"/>
              <a:t> The Retrieval Chain operates exactly as modeled in the RAG Sequence Diagram. User queries are converted to vectors, similarity searches retrieve the top-k document chunks, and the LLM synthesizes a natural language response based exclusively on verified agricultural context.</a:t>
            </a:r>
          </a:p>
        </p:txBody>
      </p:sp>
    </p:spTree>
    <p:extLst>
      <p:ext uri="{BB962C8B-B14F-4D97-AF65-F5344CB8AC3E}">
        <p14:creationId xmlns:p14="http://schemas.microsoft.com/office/powerpoint/2010/main" val="3832440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70FBC-17F6-7667-2084-DD6BA32668C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10E62B6-B852-49CC-6FAD-E2C9AAB16914}"/>
              </a:ext>
            </a:extLst>
          </p:cNvPr>
          <p:cNvSpPr>
            <a:spLocks noGrp="1"/>
          </p:cNvSpPr>
          <p:nvPr>
            <p:ph type="title"/>
          </p:nvPr>
        </p:nvSpPr>
        <p:spPr>
          <a:xfrm>
            <a:off x="838200" y="18255"/>
            <a:ext cx="10515600" cy="873567"/>
          </a:xfrm>
        </p:spPr>
        <p:txBody>
          <a:bodyPr/>
          <a:lstStyle/>
          <a:p>
            <a:pPr algn="ct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Details of Partial </a:t>
            </a:r>
            <a:r>
              <a:rPr lang="en-US" dirty="0">
                <a:latin typeface="Calibri" panose="020F0502020204030204" pitchFamily="34" charset="0"/>
                <a:ea typeface="Calibri" panose="020F0502020204030204" pitchFamily="34" charset="0"/>
                <a:cs typeface="Calibri" panose="020F0502020204030204" pitchFamily="34" charset="0"/>
              </a:rPr>
              <a:t>I</a:t>
            </a: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mplementation</a:t>
            </a:r>
          </a:p>
        </p:txBody>
      </p:sp>
      <p:sp>
        <p:nvSpPr>
          <p:cNvPr id="2" name="Text Placeholder 1">
            <a:extLst>
              <a:ext uri="{FF2B5EF4-FFF2-40B4-BE49-F238E27FC236}">
                <a16:creationId xmlns:a16="http://schemas.microsoft.com/office/drawing/2014/main" id="{FBF48A5D-D3CF-BF33-60F6-4FD43E75C890}"/>
              </a:ext>
            </a:extLst>
          </p:cNvPr>
          <p:cNvSpPr>
            <a:spLocks noGrp="1"/>
          </p:cNvSpPr>
          <p:nvPr>
            <p:ph type="body" idx="1"/>
          </p:nvPr>
        </p:nvSpPr>
        <p:spPr>
          <a:xfrm>
            <a:off x="838200" y="1360967"/>
            <a:ext cx="10515600" cy="4815996"/>
          </a:xfrm>
        </p:spPr>
        <p:txBody>
          <a:bodyPr/>
          <a:lstStyle/>
          <a:p>
            <a:pPr marL="50800" indent="0">
              <a:buNone/>
            </a:pPr>
            <a:r>
              <a:rPr lang="en-US" sz="2000" b="1" dirty="0"/>
              <a:t>System Integration &amp; Interface</a:t>
            </a:r>
          </a:p>
          <a:p>
            <a:pPr marL="50800" indent="0">
              <a:buNone/>
            </a:pPr>
            <a:endParaRPr lang="en-US" sz="1800" b="1" dirty="0"/>
          </a:p>
          <a:p>
            <a:r>
              <a:rPr lang="en-US" sz="1800" b="1" dirty="0"/>
              <a:t>Proposed Architecture:</a:t>
            </a:r>
            <a:r>
              <a:rPr lang="en-US" sz="1800" dirty="0"/>
              <a:t> Connecting the Vision model output directly to the RAG system and developing the User Interface for image upload and result display.</a:t>
            </a:r>
          </a:p>
          <a:p>
            <a:pPr marL="50800" indent="0">
              <a:buNone/>
            </a:pPr>
            <a:endParaRPr lang="en-US" sz="1800" dirty="0"/>
          </a:p>
          <a:p>
            <a:r>
              <a:rPr lang="en-US" sz="1800" b="1" dirty="0"/>
              <a:t>Implementation Details:</a:t>
            </a:r>
            <a:r>
              <a:rPr lang="en-US" sz="1800" dirty="0"/>
              <a:t> The integration serves as the bridge between visual classification and actionable advice. Once an uploaded image is classified (e.g., as "</a:t>
            </a:r>
            <a:r>
              <a:rPr lang="en-US" sz="1800" dirty="0" err="1"/>
              <a:t>Shishi</a:t>
            </a:r>
            <a:r>
              <a:rPr lang="en-US" sz="1800" dirty="0"/>
              <a:t>"), that specific label is automatically injected into the RAG prompt. This ensures the user receives highly specialized, context-aware information rather than generic agricultural data.</a:t>
            </a:r>
          </a:p>
          <a:p>
            <a:pPr marL="50800" indent="0">
              <a:buNone/>
            </a:pPr>
            <a:endParaRPr lang="en-US" sz="1800" dirty="0"/>
          </a:p>
          <a:p>
            <a:r>
              <a:rPr lang="en-US" sz="1800" b="1" dirty="0"/>
              <a:t>Design Conformity:</a:t>
            </a:r>
            <a:r>
              <a:rPr lang="en-US" sz="1800" dirty="0"/>
              <a:t> The app showcase photos in the milestone 3 file</a:t>
            </a:r>
          </a:p>
        </p:txBody>
      </p:sp>
    </p:spTree>
    <p:extLst>
      <p:ext uri="{BB962C8B-B14F-4D97-AF65-F5344CB8AC3E}">
        <p14:creationId xmlns:p14="http://schemas.microsoft.com/office/powerpoint/2010/main" val="2087392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3E5CD-B9CC-3A34-5870-17EB1D5C65B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7313653-6C57-AEFB-68DE-3F6A1E3E29D1}"/>
              </a:ext>
            </a:extLst>
          </p:cNvPr>
          <p:cNvSpPr>
            <a:spLocks noGrp="1"/>
          </p:cNvSpPr>
          <p:nvPr>
            <p:ph type="title"/>
          </p:nvPr>
        </p:nvSpPr>
        <p:spPr>
          <a:xfrm>
            <a:off x="838200" y="18255"/>
            <a:ext cx="10515600" cy="873567"/>
          </a:xfrm>
        </p:spPr>
        <p:txBody>
          <a:bodyPr/>
          <a:lstStyle/>
          <a:p>
            <a:pPr algn="ct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Details of Partial </a:t>
            </a:r>
            <a:r>
              <a:rPr lang="en-US" dirty="0">
                <a:latin typeface="Calibri" panose="020F0502020204030204" pitchFamily="34" charset="0"/>
                <a:ea typeface="Calibri" panose="020F0502020204030204" pitchFamily="34" charset="0"/>
                <a:cs typeface="Calibri" panose="020F0502020204030204" pitchFamily="34" charset="0"/>
              </a:rPr>
              <a:t>I</a:t>
            </a: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mplementation</a:t>
            </a:r>
          </a:p>
        </p:txBody>
      </p:sp>
      <p:sp>
        <p:nvSpPr>
          <p:cNvPr id="2" name="Text Placeholder 1">
            <a:extLst>
              <a:ext uri="{FF2B5EF4-FFF2-40B4-BE49-F238E27FC236}">
                <a16:creationId xmlns:a16="http://schemas.microsoft.com/office/drawing/2014/main" id="{8F97ABAD-870F-1559-A7FA-E1369FBAE87B}"/>
              </a:ext>
            </a:extLst>
          </p:cNvPr>
          <p:cNvSpPr>
            <a:spLocks noGrp="1"/>
          </p:cNvSpPr>
          <p:nvPr>
            <p:ph type="body" idx="1"/>
          </p:nvPr>
        </p:nvSpPr>
        <p:spPr>
          <a:xfrm>
            <a:off x="838200" y="1360967"/>
            <a:ext cx="10515600" cy="4815996"/>
          </a:xfrm>
        </p:spPr>
        <p:txBody>
          <a:bodyPr/>
          <a:lstStyle/>
          <a:p>
            <a:pPr marL="50800" indent="0">
              <a:buNone/>
            </a:pPr>
            <a:r>
              <a:rPr lang="en-US" sz="2000" b="1" dirty="0"/>
              <a:t>Quality Assurance &amp; Testing Metrics</a:t>
            </a:r>
          </a:p>
          <a:p>
            <a:pPr marL="50800" indent="0">
              <a:buNone/>
            </a:pPr>
            <a:endParaRPr lang="en-US" sz="1800" b="1" dirty="0"/>
          </a:p>
          <a:p>
            <a:r>
              <a:rPr lang="en-US" sz="1800" b="1" dirty="0"/>
              <a:t>Confusion Matrices:</a:t>
            </a:r>
            <a:r>
              <a:rPr lang="en-US" sz="1800" dirty="0"/>
              <a:t> We utilize these matrices extensively to evaluate the final integration, specifically to identify any specific pairs of palm varieties that the model might frequently confuse under real-world conditions.</a:t>
            </a:r>
          </a:p>
          <a:p>
            <a:pPr marL="50800" indent="0">
              <a:buNone/>
            </a:pPr>
            <a:endParaRPr lang="en-US" sz="1800" dirty="0"/>
          </a:p>
          <a:p>
            <a:r>
              <a:rPr lang="en-US" sz="1800" b="1" dirty="0"/>
              <a:t>Inference Latency:</a:t>
            </a:r>
            <a:r>
              <a:rPr lang="en-US" sz="1800" dirty="0"/>
              <a:t> A critical testing metric for our UI is tracking the time required to process a single image through the full ensemble pipeline, ensuring the system remains responsive for end-users.</a:t>
            </a:r>
          </a:p>
          <a:p>
            <a:pPr marL="50800" indent="0">
              <a:buNone/>
            </a:pPr>
            <a:endParaRPr lang="en-US" sz="1800" dirty="0"/>
          </a:p>
          <a:p>
            <a:r>
              <a:rPr lang="en-US" sz="1800" b="1" dirty="0"/>
              <a:t>Semantic Validation:</a:t>
            </a:r>
            <a:r>
              <a:rPr lang="en-US" sz="1800" dirty="0"/>
              <a:t> To guarantee reliability and safety, domain experts are involved in reviewing the LLM-generated answers to verify factual correctness and strictly prevent AI hallucinations regarding agricultural treatments.</a:t>
            </a:r>
          </a:p>
        </p:txBody>
      </p:sp>
    </p:spTree>
    <p:extLst>
      <p:ext uri="{BB962C8B-B14F-4D97-AF65-F5344CB8AC3E}">
        <p14:creationId xmlns:p14="http://schemas.microsoft.com/office/powerpoint/2010/main" val="2780550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84ABE-FB17-9AA8-9F41-05A59DC82BE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7D4123B-5A5E-2826-45A5-64C3F765F58C}"/>
              </a:ext>
            </a:extLst>
          </p:cNvPr>
          <p:cNvSpPr>
            <a:spLocks noGrp="1"/>
          </p:cNvSpPr>
          <p:nvPr>
            <p:ph type="title"/>
          </p:nvPr>
        </p:nvSpPr>
        <p:spPr>
          <a:xfrm>
            <a:off x="1582479" y="3325"/>
            <a:ext cx="10515600" cy="873567"/>
          </a:xfrm>
        </p:spPr>
        <p:txBody>
          <a:bodyPr/>
          <a:lstStyle/>
          <a:p>
            <a:pPr algn="ctr"/>
            <a:r>
              <a:rPr lang="en-US" sz="3600" dirty="0">
                <a:solidFill>
                  <a:schemeClr val="bg1"/>
                </a:solidFill>
                <a:latin typeface="Calibri" panose="020F0502020204030204" pitchFamily="34" charset="0"/>
                <a:ea typeface="Calibri" panose="020F0502020204030204" pitchFamily="34" charset="0"/>
                <a:cs typeface="Calibri" panose="020F0502020204030204" pitchFamily="34" charset="0"/>
              </a:rPr>
              <a:t>Tools &amp; </a:t>
            </a:r>
            <a:r>
              <a:rPr lang="en-US" sz="3600" dirty="0">
                <a:latin typeface="Calibri" panose="020F0502020204030204" pitchFamily="34" charset="0"/>
                <a:ea typeface="Calibri" panose="020F0502020204030204" pitchFamily="34" charset="0"/>
                <a:cs typeface="Calibri" panose="020F0502020204030204" pitchFamily="34" charset="0"/>
              </a:rPr>
              <a:t>T</a:t>
            </a:r>
            <a:r>
              <a:rPr lang="en-US" sz="3600" dirty="0">
                <a:solidFill>
                  <a:schemeClr val="bg1"/>
                </a:solidFill>
                <a:latin typeface="Calibri" panose="020F0502020204030204" pitchFamily="34" charset="0"/>
                <a:ea typeface="Calibri" panose="020F0502020204030204" pitchFamily="34" charset="0"/>
                <a:cs typeface="Calibri" panose="020F0502020204030204" pitchFamily="34" charset="0"/>
              </a:rPr>
              <a:t>echniques </a:t>
            </a:r>
            <a:r>
              <a:rPr lang="en-US" sz="3600" dirty="0">
                <a:latin typeface="Calibri" panose="020F0502020204030204" pitchFamily="34" charset="0"/>
                <a:ea typeface="Calibri" panose="020F0502020204030204" pitchFamily="34" charset="0"/>
                <a:cs typeface="Calibri" panose="020F0502020204030204" pitchFamily="34" charset="0"/>
              </a:rPr>
              <a:t>used in </a:t>
            </a:r>
            <a:r>
              <a:rPr lang="en-US" sz="3600" dirty="0">
                <a:solidFill>
                  <a:schemeClr val="bg1"/>
                </a:solidFill>
                <a:latin typeface="Calibri" panose="020F0502020204030204" pitchFamily="34" charset="0"/>
                <a:ea typeface="Calibri" panose="020F0502020204030204" pitchFamily="34" charset="0"/>
                <a:cs typeface="Calibri" panose="020F0502020204030204" pitchFamily="34" charset="0"/>
              </a:rPr>
              <a:t>Implementation</a:t>
            </a:r>
          </a:p>
        </p:txBody>
      </p:sp>
      <p:sp>
        <p:nvSpPr>
          <p:cNvPr id="2" name="Text Placeholder 1">
            <a:extLst>
              <a:ext uri="{FF2B5EF4-FFF2-40B4-BE49-F238E27FC236}">
                <a16:creationId xmlns:a16="http://schemas.microsoft.com/office/drawing/2014/main" id="{33B869ED-1B87-F2A5-8CA5-7B8F4AB2AB9E}"/>
              </a:ext>
            </a:extLst>
          </p:cNvPr>
          <p:cNvSpPr>
            <a:spLocks noGrp="1"/>
          </p:cNvSpPr>
          <p:nvPr>
            <p:ph type="body" idx="1"/>
          </p:nvPr>
        </p:nvSpPr>
        <p:spPr>
          <a:xfrm>
            <a:off x="549442" y="962845"/>
            <a:ext cx="10515600" cy="5362327"/>
          </a:xfrm>
        </p:spPr>
        <p:txBody>
          <a:bodyPr/>
          <a:lstStyle/>
          <a:p>
            <a:pPr marL="50800" indent="0">
              <a:buNone/>
            </a:pPr>
            <a:r>
              <a:rPr lang="en-US" b="1" dirty="0"/>
              <a:t>Hardware &amp; Software Tools</a:t>
            </a:r>
          </a:p>
          <a:p>
            <a:pPr marL="50800" indent="0">
              <a:buNone/>
            </a:pPr>
            <a:endParaRPr lang="en-GB" sz="2400" dirty="0"/>
          </a:p>
          <a:p>
            <a:r>
              <a:rPr lang="en-US" sz="1800" b="1" dirty="0"/>
              <a:t>NVIDIA GPUs</a:t>
            </a:r>
            <a:r>
              <a:rPr lang="en-US" sz="1800" dirty="0"/>
              <a:t> (with CUDA support for accelerating matrix operations) </a:t>
            </a:r>
          </a:p>
          <a:p>
            <a:endParaRPr lang="en-US" sz="1800" dirty="0"/>
          </a:p>
          <a:p>
            <a:r>
              <a:rPr lang="en-US" sz="1800" b="1" dirty="0"/>
              <a:t>Python</a:t>
            </a:r>
            <a:r>
              <a:rPr lang="en-US" sz="1800" dirty="0"/>
              <a:t> (Primary programming language)</a:t>
            </a:r>
          </a:p>
          <a:p>
            <a:endParaRPr lang="en-US" sz="1800" dirty="0"/>
          </a:p>
          <a:p>
            <a:r>
              <a:rPr lang="en-US" sz="1800" b="1" dirty="0" err="1"/>
              <a:t>PyTorch</a:t>
            </a:r>
            <a:r>
              <a:rPr lang="en-US" sz="1800" dirty="0"/>
              <a:t> (Primary deep learning framework)</a:t>
            </a:r>
          </a:p>
          <a:p>
            <a:endParaRPr lang="en-US" sz="1800" dirty="0"/>
          </a:p>
          <a:p>
            <a:r>
              <a:rPr lang="en-US" sz="1800" b="1" dirty="0"/>
              <a:t>Scikit-Learn</a:t>
            </a:r>
            <a:r>
              <a:rPr lang="en-US" sz="1800" dirty="0"/>
              <a:t> (Used for cross-validation data splitting) </a:t>
            </a:r>
          </a:p>
          <a:p>
            <a:endParaRPr lang="en-US" sz="1800" dirty="0"/>
          </a:p>
          <a:p>
            <a:r>
              <a:rPr lang="en-US" sz="1800" b="1" dirty="0" err="1"/>
              <a:t>LangChain</a:t>
            </a:r>
            <a:r>
              <a:rPr lang="en-US" sz="1800" dirty="0"/>
              <a:t> (Orchestration framework for the RAG component) </a:t>
            </a:r>
          </a:p>
          <a:p>
            <a:pPr marL="50800" indent="0">
              <a:buNone/>
            </a:pPr>
            <a:endParaRPr lang="en-US" sz="1800" dirty="0"/>
          </a:p>
          <a:p>
            <a:r>
              <a:rPr lang="en-US" sz="1800" b="1" dirty="0" err="1"/>
              <a:t>ChromaDB</a:t>
            </a:r>
            <a:r>
              <a:rPr lang="en-US" sz="1800" dirty="0"/>
              <a:t> (Vector database for semantic search</a:t>
            </a:r>
            <a:r>
              <a:rPr lang="en-US" sz="2000" dirty="0"/>
              <a:t>)</a:t>
            </a:r>
            <a:endParaRPr lang="en-GB" sz="2000" dirty="0"/>
          </a:p>
        </p:txBody>
      </p:sp>
    </p:spTree>
    <p:extLst>
      <p:ext uri="{BB962C8B-B14F-4D97-AF65-F5344CB8AC3E}">
        <p14:creationId xmlns:p14="http://schemas.microsoft.com/office/powerpoint/2010/main" val="1350814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F639D-A4FE-5C7B-94B4-2171C080E70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B1F4F5D-F1E2-0BAD-0E62-3C20DF0FA8D4}"/>
              </a:ext>
            </a:extLst>
          </p:cNvPr>
          <p:cNvSpPr>
            <a:spLocks noGrp="1"/>
          </p:cNvSpPr>
          <p:nvPr>
            <p:ph type="title"/>
          </p:nvPr>
        </p:nvSpPr>
        <p:spPr>
          <a:xfrm>
            <a:off x="1582479" y="3325"/>
            <a:ext cx="10515600" cy="873567"/>
          </a:xfrm>
        </p:spPr>
        <p:txBody>
          <a:bodyPr/>
          <a:lstStyle/>
          <a:p>
            <a:pPr algn="ctr"/>
            <a:r>
              <a:rPr lang="en-US" sz="3600" dirty="0">
                <a:solidFill>
                  <a:schemeClr val="bg1"/>
                </a:solidFill>
                <a:latin typeface="Calibri" panose="020F0502020204030204" pitchFamily="34" charset="0"/>
                <a:ea typeface="Calibri" panose="020F0502020204030204" pitchFamily="34" charset="0"/>
                <a:cs typeface="Calibri" panose="020F0502020204030204" pitchFamily="34" charset="0"/>
              </a:rPr>
              <a:t>Tools &amp; </a:t>
            </a:r>
            <a:r>
              <a:rPr lang="en-US" sz="3600" dirty="0">
                <a:latin typeface="Calibri" panose="020F0502020204030204" pitchFamily="34" charset="0"/>
                <a:ea typeface="Calibri" panose="020F0502020204030204" pitchFamily="34" charset="0"/>
                <a:cs typeface="Calibri" panose="020F0502020204030204" pitchFamily="34" charset="0"/>
              </a:rPr>
              <a:t>T</a:t>
            </a:r>
            <a:r>
              <a:rPr lang="en-US" sz="3600" dirty="0">
                <a:solidFill>
                  <a:schemeClr val="bg1"/>
                </a:solidFill>
                <a:latin typeface="Calibri" panose="020F0502020204030204" pitchFamily="34" charset="0"/>
                <a:ea typeface="Calibri" panose="020F0502020204030204" pitchFamily="34" charset="0"/>
                <a:cs typeface="Calibri" panose="020F0502020204030204" pitchFamily="34" charset="0"/>
              </a:rPr>
              <a:t>echniques </a:t>
            </a:r>
            <a:r>
              <a:rPr lang="en-US" sz="3600" dirty="0">
                <a:latin typeface="Calibri" panose="020F0502020204030204" pitchFamily="34" charset="0"/>
                <a:ea typeface="Calibri" panose="020F0502020204030204" pitchFamily="34" charset="0"/>
                <a:cs typeface="Calibri" panose="020F0502020204030204" pitchFamily="34" charset="0"/>
              </a:rPr>
              <a:t>used in </a:t>
            </a:r>
            <a:r>
              <a:rPr lang="en-US" sz="3600" dirty="0">
                <a:solidFill>
                  <a:schemeClr val="bg1"/>
                </a:solidFill>
                <a:latin typeface="Calibri" panose="020F0502020204030204" pitchFamily="34" charset="0"/>
                <a:ea typeface="Calibri" panose="020F0502020204030204" pitchFamily="34" charset="0"/>
                <a:cs typeface="Calibri" panose="020F0502020204030204" pitchFamily="34" charset="0"/>
              </a:rPr>
              <a:t>Implementation</a:t>
            </a:r>
          </a:p>
        </p:txBody>
      </p:sp>
      <p:sp>
        <p:nvSpPr>
          <p:cNvPr id="2" name="Text Placeholder 1">
            <a:extLst>
              <a:ext uri="{FF2B5EF4-FFF2-40B4-BE49-F238E27FC236}">
                <a16:creationId xmlns:a16="http://schemas.microsoft.com/office/drawing/2014/main" id="{7D69BAAE-A3DF-6779-908A-3E33C3E05497}"/>
              </a:ext>
            </a:extLst>
          </p:cNvPr>
          <p:cNvSpPr>
            <a:spLocks noGrp="1"/>
          </p:cNvSpPr>
          <p:nvPr>
            <p:ph type="body" idx="1"/>
          </p:nvPr>
        </p:nvSpPr>
        <p:spPr>
          <a:xfrm>
            <a:off x="549442" y="962845"/>
            <a:ext cx="10515600" cy="5362327"/>
          </a:xfrm>
        </p:spPr>
        <p:txBody>
          <a:bodyPr/>
          <a:lstStyle/>
          <a:p>
            <a:pPr marL="50800" indent="0">
              <a:buNone/>
            </a:pPr>
            <a:r>
              <a:rPr lang="en-US" b="1" dirty="0"/>
              <a:t>Implementation Techniques</a:t>
            </a:r>
          </a:p>
          <a:p>
            <a:pPr marL="50800" indent="0">
              <a:buNone/>
            </a:pPr>
            <a:endParaRPr lang="en-US" b="1" dirty="0"/>
          </a:p>
          <a:p>
            <a:pPr marL="50800" indent="0">
              <a:buNone/>
            </a:pPr>
            <a:r>
              <a:rPr lang="en-US" sz="2000" dirty="0"/>
              <a:t>Beyond the core software stack, the project's success relied on applying these advanced algorithmic methodologies</a:t>
            </a:r>
          </a:p>
          <a:p>
            <a:r>
              <a:rPr lang="en-US" sz="1800" b="1" dirty="0"/>
              <a:t>Training Protocol:</a:t>
            </a:r>
            <a:r>
              <a:rPr lang="en-US" sz="2400" dirty="0"/>
              <a:t> </a:t>
            </a:r>
            <a:r>
              <a:rPr lang="en-US" sz="1800" dirty="0"/>
              <a:t>5-Fold Cross-Validation, </a:t>
            </a:r>
            <a:r>
              <a:rPr lang="en-US" sz="1800" dirty="0" err="1"/>
              <a:t>AdamW</a:t>
            </a:r>
            <a:r>
              <a:rPr lang="en-US" sz="1800" dirty="0"/>
              <a:t> optimizer, and early stopping.</a:t>
            </a:r>
          </a:p>
          <a:p>
            <a:endParaRPr lang="en-US" sz="2400" dirty="0"/>
          </a:p>
          <a:p>
            <a:r>
              <a:rPr lang="en-US" sz="1800" b="1" dirty="0"/>
              <a:t>Advanced Optimization:</a:t>
            </a:r>
            <a:r>
              <a:rPr lang="en-US" sz="1800" dirty="0"/>
              <a:t> </a:t>
            </a:r>
            <a:r>
              <a:rPr lang="en-US" sz="1800" dirty="0" err="1"/>
              <a:t>MixUp</a:t>
            </a:r>
            <a:r>
              <a:rPr lang="en-US" sz="1800" dirty="0"/>
              <a:t> augmentation and Cosine Annealing.</a:t>
            </a:r>
          </a:p>
          <a:p>
            <a:endParaRPr lang="en-US" sz="2400" dirty="0"/>
          </a:p>
          <a:p>
            <a:r>
              <a:rPr lang="en-US" sz="1800" b="1" dirty="0"/>
              <a:t>Inference Enhancement:</a:t>
            </a:r>
            <a:r>
              <a:rPr lang="en-US" sz="1800" dirty="0"/>
              <a:t> Test Time Augmentation (TTA) and Model </a:t>
            </a:r>
            <a:r>
              <a:rPr lang="en-US" sz="1800" dirty="0" err="1"/>
              <a:t>Ensembling</a:t>
            </a:r>
            <a:r>
              <a:rPr lang="en-US" sz="1800" dirty="0"/>
              <a:t>.</a:t>
            </a:r>
          </a:p>
          <a:p>
            <a:endParaRPr lang="en-US" sz="2400" dirty="0"/>
          </a:p>
          <a:p>
            <a:r>
              <a:rPr lang="en-US" sz="1800" b="1" dirty="0"/>
              <a:t>Semantic Retrieval:</a:t>
            </a:r>
            <a:r>
              <a:rPr lang="en-US" sz="1800" dirty="0"/>
              <a:t> Retrieval-Augmented Generation (RAG).</a:t>
            </a:r>
          </a:p>
          <a:p>
            <a:pPr marL="50800" indent="0">
              <a:buNone/>
            </a:pPr>
            <a:endParaRPr lang="en-GB" sz="2400" b="1" dirty="0"/>
          </a:p>
        </p:txBody>
      </p:sp>
    </p:spTree>
    <p:extLst>
      <p:ext uri="{BB962C8B-B14F-4D97-AF65-F5344CB8AC3E}">
        <p14:creationId xmlns:p14="http://schemas.microsoft.com/office/powerpoint/2010/main" val="2660428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67247-9B3A-4907-7C58-71DD3F6F845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6B64940-1B8A-9C98-D531-2FD5E4AFB9F5}"/>
              </a:ext>
            </a:extLst>
          </p:cNvPr>
          <p:cNvSpPr>
            <a:spLocks noGrp="1"/>
          </p:cNvSpPr>
          <p:nvPr>
            <p:ph type="title"/>
          </p:nvPr>
        </p:nvSpPr>
        <p:spPr>
          <a:xfrm>
            <a:off x="838200" y="18255"/>
            <a:ext cx="10515600" cy="873567"/>
          </a:xfrm>
        </p:spPr>
        <p:txBody>
          <a:bodyPr/>
          <a:lstStyle/>
          <a:p>
            <a:pPr algn="ct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Preliminary Outcomes/Results</a:t>
            </a:r>
          </a:p>
        </p:txBody>
      </p:sp>
      <p:sp>
        <p:nvSpPr>
          <p:cNvPr id="2" name="Text Placeholder 1">
            <a:extLst>
              <a:ext uri="{FF2B5EF4-FFF2-40B4-BE49-F238E27FC236}">
                <a16:creationId xmlns:a16="http://schemas.microsoft.com/office/drawing/2014/main" id="{B10CCFDD-217A-FDF8-54D0-D3A8421D431C}"/>
              </a:ext>
            </a:extLst>
          </p:cNvPr>
          <p:cNvSpPr>
            <a:spLocks noGrp="1"/>
          </p:cNvSpPr>
          <p:nvPr>
            <p:ph type="body" idx="1"/>
          </p:nvPr>
        </p:nvSpPr>
        <p:spPr>
          <a:xfrm>
            <a:off x="838200" y="1360967"/>
            <a:ext cx="10515600" cy="4815996"/>
          </a:xfrm>
        </p:spPr>
        <p:txBody>
          <a:bodyPr/>
          <a:lstStyle/>
          <a:p>
            <a:pPr marL="50800" indent="0">
              <a:buNone/>
            </a:pPr>
            <a:r>
              <a:rPr lang="en-US" sz="2400" b="1" dirty="0"/>
              <a:t>Implementation Results &amp; Model Evaluation</a:t>
            </a:r>
          </a:p>
          <a:p>
            <a:pPr marL="50800" indent="0">
              <a:buNone/>
            </a:pPr>
            <a:r>
              <a:rPr lang="en-US" sz="1800" dirty="0"/>
              <a:t>Our evaluation rigorously compared several pre-trained CNN architectures to determine the optimal vision backbone for the framework. The results clearly validate our selection of </a:t>
            </a:r>
            <a:r>
              <a:rPr lang="en-US" sz="1800" b="1" dirty="0" err="1"/>
              <a:t>ConvNeXt</a:t>
            </a:r>
            <a:r>
              <a:rPr lang="en-US" sz="1800" b="1" dirty="0"/>
              <a:t> Small</a:t>
            </a:r>
            <a:r>
              <a:rPr lang="en-US" sz="1800" dirty="0"/>
              <a:t> as the primary inference engine, as it significantly outperformed alternative models across all critical evaluation metrics.</a:t>
            </a:r>
          </a:p>
          <a:p>
            <a:pPr marL="50800" indent="0">
              <a:buNone/>
            </a:pPr>
            <a:endParaRPr lang="en-GB" dirty="0"/>
          </a:p>
        </p:txBody>
      </p:sp>
      <p:graphicFrame>
        <p:nvGraphicFramePr>
          <p:cNvPr id="3" name="Table 2">
            <a:extLst>
              <a:ext uri="{FF2B5EF4-FFF2-40B4-BE49-F238E27FC236}">
                <a16:creationId xmlns:a16="http://schemas.microsoft.com/office/drawing/2014/main" id="{EED01374-D231-09A2-8169-D32D65251F46}"/>
              </a:ext>
            </a:extLst>
          </p:cNvPr>
          <p:cNvGraphicFramePr>
            <a:graphicFrameLocks noGrp="1"/>
          </p:cNvGraphicFramePr>
          <p:nvPr>
            <p:extLst>
              <p:ext uri="{D42A27DB-BD31-4B8C-83A1-F6EECF244321}">
                <p14:modId xmlns:p14="http://schemas.microsoft.com/office/powerpoint/2010/main" val="1243853170"/>
              </p:ext>
            </p:extLst>
          </p:nvPr>
        </p:nvGraphicFramePr>
        <p:xfrm>
          <a:off x="838200" y="2843722"/>
          <a:ext cx="10515600" cy="1352617"/>
        </p:xfrm>
        <a:graphic>
          <a:graphicData uri="http://schemas.openxmlformats.org/drawingml/2006/table">
            <a:tbl>
              <a:tblPr firstRow="1" firstCol="1" bandRow="1">
                <a:tableStyleId>{5C22544A-7EE6-4342-B048-85BDC9FD1C3A}</a:tableStyleId>
              </a:tblPr>
              <a:tblGrid>
                <a:gridCol w="2103120">
                  <a:extLst>
                    <a:ext uri="{9D8B030D-6E8A-4147-A177-3AD203B41FA5}">
                      <a16:colId xmlns:a16="http://schemas.microsoft.com/office/drawing/2014/main" val="2266915250"/>
                    </a:ext>
                  </a:extLst>
                </a:gridCol>
                <a:gridCol w="2103120">
                  <a:extLst>
                    <a:ext uri="{9D8B030D-6E8A-4147-A177-3AD203B41FA5}">
                      <a16:colId xmlns:a16="http://schemas.microsoft.com/office/drawing/2014/main" val="727152764"/>
                    </a:ext>
                  </a:extLst>
                </a:gridCol>
                <a:gridCol w="2103120">
                  <a:extLst>
                    <a:ext uri="{9D8B030D-6E8A-4147-A177-3AD203B41FA5}">
                      <a16:colId xmlns:a16="http://schemas.microsoft.com/office/drawing/2014/main" val="4118168028"/>
                    </a:ext>
                  </a:extLst>
                </a:gridCol>
                <a:gridCol w="2103120">
                  <a:extLst>
                    <a:ext uri="{9D8B030D-6E8A-4147-A177-3AD203B41FA5}">
                      <a16:colId xmlns:a16="http://schemas.microsoft.com/office/drawing/2014/main" val="3198137663"/>
                    </a:ext>
                  </a:extLst>
                </a:gridCol>
                <a:gridCol w="2103120">
                  <a:extLst>
                    <a:ext uri="{9D8B030D-6E8A-4147-A177-3AD203B41FA5}">
                      <a16:colId xmlns:a16="http://schemas.microsoft.com/office/drawing/2014/main" val="66833697"/>
                    </a:ext>
                  </a:extLst>
                </a:gridCol>
              </a:tblGrid>
              <a:tr h="0">
                <a:tc>
                  <a:txBody>
                    <a:bodyPr/>
                    <a:lstStyle/>
                    <a:p>
                      <a:pPr marL="0" marR="0">
                        <a:lnSpc>
                          <a:spcPct val="115000"/>
                        </a:lnSpc>
                        <a:spcAft>
                          <a:spcPts val="1000"/>
                        </a:spcAft>
                        <a:buNone/>
                      </a:pPr>
                      <a:r>
                        <a:rPr lang="en-US" sz="1200" dirty="0">
                          <a:effectLst/>
                        </a:rPr>
                        <a:t>Experiment</a:t>
                      </a:r>
                      <a:endParaRPr lang="en-US" sz="1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Model</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Training Data</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Test Data</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Accuracy</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621567330"/>
                  </a:ext>
                </a:extLst>
              </a:tr>
              <a:tr h="0">
                <a:tc>
                  <a:txBody>
                    <a:bodyPr/>
                    <a:lstStyle/>
                    <a:p>
                      <a:pPr marL="0" marR="0">
                        <a:lnSpc>
                          <a:spcPct val="115000"/>
                        </a:lnSpc>
                        <a:spcAft>
                          <a:spcPts val="1000"/>
                        </a:spcAft>
                        <a:buNone/>
                      </a:pPr>
                      <a:r>
                        <a:rPr lang="en-US" sz="1200">
                          <a:effectLst/>
                        </a:rPr>
                        <a:t>Exp 1</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ViT_b_16</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Day Images Only</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Night Images Only</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55.33%</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472768581"/>
                  </a:ext>
                </a:extLst>
              </a:tr>
              <a:tr h="0">
                <a:tc>
                  <a:txBody>
                    <a:bodyPr/>
                    <a:lstStyle/>
                    <a:p>
                      <a:pPr marL="0" marR="0">
                        <a:lnSpc>
                          <a:spcPct val="115000"/>
                        </a:lnSpc>
                        <a:spcAft>
                          <a:spcPts val="1000"/>
                        </a:spcAft>
                        <a:buNone/>
                      </a:pPr>
                      <a:r>
                        <a:rPr lang="en-US" sz="1200">
                          <a:effectLst/>
                        </a:rPr>
                        <a:t>Exp 2</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ConvNext_small</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Day Images Only</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Night Images Only</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67.07%</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716140985"/>
                  </a:ext>
                </a:extLst>
              </a:tr>
              <a:tr h="0">
                <a:tc>
                  <a:txBody>
                    <a:bodyPr/>
                    <a:lstStyle/>
                    <a:p>
                      <a:pPr marL="0" marR="0">
                        <a:lnSpc>
                          <a:spcPct val="115000"/>
                        </a:lnSpc>
                        <a:spcAft>
                          <a:spcPts val="1000"/>
                        </a:spcAft>
                        <a:buNone/>
                      </a:pPr>
                      <a:r>
                        <a:rPr lang="en-US" sz="1200">
                          <a:effectLst/>
                        </a:rPr>
                        <a:t>Exp 3</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ViT_b_16</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Combined (Day + Night)</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Night &amp; Day (10%)</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92.00%</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54326008"/>
                  </a:ext>
                </a:extLst>
              </a:tr>
              <a:tr h="0">
                <a:tc>
                  <a:txBody>
                    <a:bodyPr/>
                    <a:lstStyle/>
                    <a:p>
                      <a:pPr marL="0" marR="0">
                        <a:lnSpc>
                          <a:spcPct val="115000"/>
                        </a:lnSpc>
                        <a:spcAft>
                          <a:spcPts val="1000"/>
                        </a:spcAft>
                        <a:buNone/>
                      </a:pPr>
                      <a:r>
                        <a:rPr lang="en-US" sz="1200">
                          <a:effectLst/>
                        </a:rPr>
                        <a:t>Exp 4</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KNN</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Combined (Day + Night)</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Night &amp; Day (10%)</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91.02%</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588552069"/>
                  </a:ext>
                </a:extLst>
              </a:tr>
              <a:tr h="0">
                <a:tc>
                  <a:txBody>
                    <a:bodyPr/>
                    <a:lstStyle/>
                    <a:p>
                      <a:pPr marL="0" marR="0">
                        <a:lnSpc>
                          <a:spcPct val="115000"/>
                        </a:lnSpc>
                        <a:spcAft>
                          <a:spcPts val="1000"/>
                        </a:spcAft>
                        <a:buNone/>
                      </a:pPr>
                      <a:r>
                        <a:rPr lang="en-US" sz="1200">
                          <a:effectLst/>
                        </a:rPr>
                        <a:t>Exp 5</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SVM</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Combined (Day + Night)</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Night &amp; Day (10%)</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90.88%</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629730972"/>
                  </a:ext>
                </a:extLst>
              </a:tr>
              <a:tr h="0">
                <a:tc>
                  <a:txBody>
                    <a:bodyPr/>
                    <a:lstStyle/>
                    <a:p>
                      <a:pPr marL="0" marR="0">
                        <a:lnSpc>
                          <a:spcPct val="115000"/>
                        </a:lnSpc>
                        <a:spcAft>
                          <a:spcPts val="1000"/>
                        </a:spcAft>
                        <a:buNone/>
                      </a:pPr>
                      <a:r>
                        <a:rPr lang="en-US" sz="1200">
                          <a:effectLst/>
                        </a:rPr>
                        <a:t>Exp 6</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ConvNext_small</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Combined (Day + Night)</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a:effectLst/>
                        </a:rPr>
                        <a:t>Night &amp; Day (10%)</a:t>
                      </a:r>
                      <a:endParaRPr lang="en-US" sz="1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Aft>
                          <a:spcPts val="1000"/>
                        </a:spcAft>
                        <a:buNone/>
                      </a:pPr>
                      <a:r>
                        <a:rPr lang="en-US" sz="1200" dirty="0">
                          <a:effectLst/>
                        </a:rPr>
                        <a:t>98.37%</a:t>
                      </a:r>
                      <a:endParaRPr lang="en-US" sz="1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92527912"/>
                  </a:ext>
                </a:extLst>
              </a:tr>
            </a:tbl>
          </a:graphicData>
        </a:graphic>
      </p:graphicFrame>
    </p:spTree>
    <p:extLst>
      <p:ext uri="{BB962C8B-B14F-4D97-AF65-F5344CB8AC3E}">
        <p14:creationId xmlns:p14="http://schemas.microsoft.com/office/powerpoint/2010/main" val="1242011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316BF-E7BE-21C0-A830-AA64036177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98CF351-7633-DF39-247B-22773806F160}"/>
              </a:ext>
            </a:extLst>
          </p:cNvPr>
          <p:cNvSpPr>
            <a:spLocks noGrp="1"/>
          </p:cNvSpPr>
          <p:nvPr>
            <p:ph type="title"/>
          </p:nvPr>
        </p:nvSpPr>
        <p:spPr>
          <a:xfrm>
            <a:off x="838200" y="18255"/>
            <a:ext cx="10515600" cy="873567"/>
          </a:xfrm>
        </p:spPr>
        <p:txBody>
          <a:bodyPr/>
          <a:lstStyle/>
          <a:p>
            <a:pPr algn="ct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Preliminary Outcomes/Results</a:t>
            </a:r>
          </a:p>
        </p:txBody>
      </p:sp>
      <p:sp>
        <p:nvSpPr>
          <p:cNvPr id="2" name="Text Placeholder 1">
            <a:extLst>
              <a:ext uri="{FF2B5EF4-FFF2-40B4-BE49-F238E27FC236}">
                <a16:creationId xmlns:a16="http://schemas.microsoft.com/office/drawing/2014/main" id="{0F1C5382-ADDF-2E49-235E-8BA072FBF47C}"/>
              </a:ext>
            </a:extLst>
          </p:cNvPr>
          <p:cNvSpPr>
            <a:spLocks noGrp="1"/>
          </p:cNvSpPr>
          <p:nvPr>
            <p:ph type="body" idx="1"/>
          </p:nvPr>
        </p:nvSpPr>
        <p:spPr>
          <a:xfrm>
            <a:off x="260684" y="1099710"/>
            <a:ext cx="10515600" cy="4815996"/>
          </a:xfrm>
        </p:spPr>
        <p:txBody>
          <a:bodyPr/>
          <a:lstStyle/>
          <a:p>
            <a:pPr marL="50800" indent="0">
              <a:buNone/>
            </a:pPr>
            <a:endParaRPr lang="en-GB" dirty="0"/>
          </a:p>
        </p:txBody>
      </p:sp>
      <p:pic>
        <p:nvPicPr>
          <p:cNvPr id="4" name="Picture 3" descr="A blue squares with white squares&#10;&#10;AI-generated content may be incorrect.">
            <a:extLst>
              <a:ext uri="{FF2B5EF4-FFF2-40B4-BE49-F238E27FC236}">
                <a16:creationId xmlns:a16="http://schemas.microsoft.com/office/drawing/2014/main" id="{990A0C64-EAAB-7974-7A35-E465F7276DE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34551" y="1452858"/>
            <a:ext cx="4775042" cy="4305432"/>
          </a:xfrm>
          <a:prstGeom prst="rect">
            <a:avLst/>
          </a:prstGeom>
          <a:noFill/>
        </p:spPr>
      </p:pic>
    </p:spTree>
    <p:extLst>
      <p:ext uri="{BB962C8B-B14F-4D97-AF65-F5344CB8AC3E}">
        <p14:creationId xmlns:p14="http://schemas.microsoft.com/office/powerpoint/2010/main" val="4896954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9ACA1-7DFA-BA4A-C657-5917B4AF9FD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5F2AD43-5E08-C5BA-34A7-BD33D899E06B}"/>
              </a:ext>
            </a:extLst>
          </p:cNvPr>
          <p:cNvSpPr>
            <a:spLocks noGrp="1"/>
          </p:cNvSpPr>
          <p:nvPr>
            <p:ph type="title"/>
          </p:nvPr>
        </p:nvSpPr>
        <p:spPr>
          <a:xfrm>
            <a:off x="838200" y="18255"/>
            <a:ext cx="10515600" cy="873567"/>
          </a:xfrm>
        </p:spPr>
        <p:txBody>
          <a:bodyPr/>
          <a:lstStyle/>
          <a:p>
            <a:pPr algn="ct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Preliminary Outcomes/Results</a:t>
            </a:r>
          </a:p>
        </p:txBody>
      </p:sp>
      <p:sp>
        <p:nvSpPr>
          <p:cNvPr id="2" name="Text Placeholder 1">
            <a:extLst>
              <a:ext uri="{FF2B5EF4-FFF2-40B4-BE49-F238E27FC236}">
                <a16:creationId xmlns:a16="http://schemas.microsoft.com/office/drawing/2014/main" id="{E9DCDF7F-38E0-FAFA-EBFB-A5C7C7C931C2}"/>
              </a:ext>
            </a:extLst>
          </p:cNvPr>
          <p:cNvSpPr>
            <a:spLocks noGrp="1"/>
          </p:cNvSpPr>
          <p:nvPr>
            <p:ph type="body" idx="1"/>
          </p:nvPr>
        </p:nvSpPr>
        <p:spPr>
          <a:xfrm>
            <a:off x="260684" y="1099710"/>
            <a:ext cx="10515600" cy="4815996"/>
          </a:xfrm>
        </p:spPr>
        <p:txBody>
          <a:bodyPr/>
          <a:lstStyle/>
          <a:p>
            <a:pPr marL="50800" indent="0">
              <a:buNone/>
            </a:pPr>
            <a:r>
              <a:rPr lang="en-US" sz="2400" b="1" dirty="0"/>
              <a:t>Implementation Results &amp; Model Evaluation</a:t>
            </a:r>
          </a:p>
          <a:p>
            <a:pPr marL="50800" indent="0">
              <a:buNone/>
            </a:pPr>
            <a:r>
              <a:rPr lang="en-US" sz="1800" b="1" dirty="0"/>
              <a:t>Confusion Matrix Analysis</a:t>
            </a:r>
          </a:p>
          <a:p>
            <a:pPr marL="50800" indent="0">
              <a:buNone/>
            </a:pPr>
            <a:r>
              <a:rPr lang="en-US" sz="1800" dirty="0"/>
              <a:t>The confusion matrix for our optimized </a:t>
            </a:r>
            <a:r>
              <a:rPr lang="en-US" sz="1800" dirty="0" err="1"/>
              <a:t>ConvNeXt</a:t>
            </a:r>
            <a:r>
              <a:rPr lang="en-US" sz="1800" dirty="0"/>
              <a:t> Small model demonstrates exceptional real-world reliability and precise class separation</a:t>
            </a:r>
            <a:r>
              <a:rPr lang="en-US" sz="1400" dirty="0"/>
              <a:t>:</a:t>
            </a:r>
          </a:p>
          <a:p>
            <a:pPr marL="50800" indent="0">
              <a:buNone/>
            </a:pPr>
            <a:endParaRPr lang="en-US" sz="1400" dirty="0"/>
          </a:p>
          <a:p>
            <a:r>
              <a:rPr lang="en-US" sz="1800" b="1" dirty="0"/>
              <a:t>Exceptional Baseline Accuracy:</a:t>
            </a:r>
            <a:r>
              <a:rPr lang="en-US" sz="1800" dirty="0"/>
              <a:t> The model achieved near-perfect classification for the </a:t>
            </a:r>
            <a:r>
              <a:rPr lang="en-US" sz="1800" b="1" dirty="0" err="1"/>
              <a:t>Khalas</a:t>
            </a:r>
            <a:r>
              <a:rPr lang="en-US" sz="1800" dirty="0"/>
              <a:t> variety, correctly identifying 310 out of 315 instances with zero false positives originating from the other two classes.</a:t>
            </a:r>
          </a:p>
          <a:p>
            <a:r>
              <a:rPr lang="en-US" sz="1800" b="1" dirty="0"/>
              <a:t>Minimal Class Bleed:</a:t>
            </a:r>
            <a:r>
              <a:rPr lang="en-US" sz="1800" dirty="0"/>
              <a:t> The matrix reveals highly stable boundaries between the visually similar </a:t>
            </a:r>
            <a:r>
              <a:rPr lang="en-US" sz="1800" b="1" dirty="0" err="1"/>
              <a:t>Razeez</a:t>
            </a:r>
            <a:r>
              <a:rPr lang="en-US" sz="1800" dirty="0"/>
              <a:t> and </a:t>
            </a:r>
            <a:r>
              <a:rPr lang="en-US" sz="1800" b="1" dirty="0" err="1"/>
              <a:t>Shishi</a:t>
            </a:r>
            <a:r>
              <a:rPr lang="en-US" sz="1800" dirty="0"/>
              <a:t> varieties. Out of 494 total samples for these two classes, there were only 10 instances of cross-confusion (7 </a:t>
            </a:r>
            <a:r>
              <a:rPr lang="en-US" sz="1800" dirty="0" err="1"/>
              <a:t>Razeez</a:t>
            </a:r>
            <a:r>
              <a:rPr lang="en-US" sz="1800" dirty="0"/>
              <a:t> misclassified as </a:t>
            </a:r>
            <a:r>
              <a:rPr lang="en-US" sz="1800" dirty="0" err="1"/>
              <a:t>Shishi</a:t>
            </a:r>
            <a:r>
              <a:rPr lang="en-US" sz="1800" dirty="0"/>
              <a:t>, and 3 </a:t>
            </a:r>
            <a:r>
              <a:rPr lang="en-US" sz="1800" dirty="0" err="1"/>
              <a:t>Shishi</a:t>
            </a:r>
            <a:r>
              <a:rPr lang="en-US" sz="1800" dirty="0"/>
              <a:t> misclassified as </a:t>
            </a:r>
            <a:r>
              <a:rPr lang="en-US" sz="1800" dirty="0" err="1"/>
              <a:t>Razeez</a:t>
            </a:r>
            <a:r>
              <a:rPr lang="en-US" sz="1800" dirty="0"/>
              <a:t>).</a:t>
            </a:r>
          </a:p>
          <a:p>
            <a:r>
              <a:rPr lang="en-US" sz="1800" b="1" dirty="0"/>
              <a:t>Operational Readiness:</a:t>
            </a:r>
            <a:r>
              <a:rPr lang="en-US" sz="1800" dirty="0"/>
              <a:t> The high true-positive diagonal confirms that the model is highly robust and ready to confidently feed accurate visual context into the semantic RAG pipeline.</a:t>
            </a:r>
          </a:p>
          <a:p>
            <a:pPr marL="50800" indent="0">
              <a:buNone/>
            </a:pPr>
            <a:endParaRPr lang="en-GB" dirty="0"/>
          </a:p>
        </p:txBody>
      </p:sp>
    </p:spTree>
    <p:extLst>
      <p:ext uri="{BB962C8B-B14F-4D97-AF65-F5344CB8AC3E}">
        <p14:creationId xmlns:p14="http://schemas.microsoft.com/office/powerpoint/2010/main" val="3093870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D52D8ED-5D31-D135-E962-30E80260F6AE}"/>
              </a:ext>
            </a:extLst>
          </p:cNvPr>
          <p:cNvSpPr/>
          <p:nvPr/>
        </p:nvSpPr>
        <p:spPr>
          <a:xfrm>
            <a:off x="414997" y="1090246"/>
            <a:ext cx="11359661" cy="52402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16B830-51B5-C067-4DCA-7A60FA829D34}"/>
              </a:ext>
            </a:extLst>
          </p:cNvPr>
          <p:cNvSpPr>
            <a:spLocks noGrp="1"/>
          </p:cNvSpPr>
          <p:nvPr>
            <p:ph type="title"/>
          </p:nvPr>
        </p:nvSpPr>
        <p:spPr/>
        <p:txBody>
          <a:bodyPr/>
          <a:lstStyle/>
          <a:p>
            <a:r>
              <a:rPr lang="en-US">
                <a:latin typeface="Calibri" panose="020F0502020204030204" pitchFamily="34" charset="0"/>
                <a:ea typeface="Calibri" panose="020F0502020204030204" pitchFamily="34" charset="0"/>
                <a:cs typeface="Calibri" panose="020F0502020204030204" pitchFamily="34" charset="0"/>
              </a:rPr>
              <a:t>Preliminary Outcomes/Results</a:t>
            </a:r>
            <a:endParaRPr lang="en-US" dirty="0"/>
          </a:p>
        </p:txBody>
      </p:sp>
      <p:pic>
        <p:nvPicPr>
          <p:cNvPr id="5" name="Picture 4">
            <a:extLst>
              <a:ext uri="{FF2B5EF4-FFF2-40B4-BE49-F238E27FC236}">
                <a16:creationId xmlns:a16="http://schemas.microsoft.com/office/drawing/2014/main" id="{A7D0E72C-BE38-D358-2005-C98786EBFAE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11435" y="1528025"/>
            <a:ext cx="1898125" cy="4130105"/>
          </a:xfrm>
          <a:prstGeom prst="rect">
            <a:avLst/>
          </a:prstGeom>
          <a:noFill/>
          <a:ln>
            <a:noFill/>
          </a:ln>
        </p:spPr>
      </p:pic>
      <p:pic>
        <p:nvPicPr>
          <p:cNvPr id="8" name="Picture 7">
            <a:extLst>
              <a:ext uri="{FF2B5EF4-FFF2-40B4-BE49-F238E27FC236}">
                <a16:creationId xmlns:a16="http://schemas.microsoft.com/office/drawing/2014/main" id="{166E9D52-D3A7-A457-EFDA-CD0E249D4DB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72216" y="1528025"/>
            <a:ext cx="1898124" cy="4130105"/>
          </a:xfrm>
          <a:prstGeom prst="rect">
            <a:avLst/>
          </a:prstGeom>
          <a:noFill/>
          <a:ln>
            <a:noFill/>
          </a:ln>
        </p:spPr>
      </p:pic>
      <p:pic>
        <p:nvPicPr>
          <p:cNvPr id="11" name="Picture 10">
            <a:extLst>
              <a:ext uri="{FF2B5EF4-FFF2-40B4-BE49-F238E27FC236}">
                <a16:creationId xmlns:a16="http://schemas.microsoft.com/office/drawing/2014/main" id="{19181AE4-B31D-872B-19C0-9C51A0686DE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32996" y="1535075"/>
            <a:ext cx="1895475" cy="4123055"/>
          </a:xfrm>
          <a:prstGeom prst="rect">
            <a:avLst/>
          </a:prstGeom>
          <a:noFill/>
          <a:ln>
            <a:noFill/>
          </a:ln>
        </p:spPr>
      </p:pic>
    </p:spTree>
    <p:extLst>
      <p:ext uri="{BB962C8B-B14F-4D97-AF65-F5344CB8AC3E}">
        <p14:creationId xmlns:p14="http://schemas.microsoft.com/office/powerpoint/2010/main" val="2302005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B2852-B688-7054-BEA5-92C1F71AEAF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ED5B790-C2E4-C26B-03DB-0DB9EC2FE5E9}"/>
              </a:ext>
            </a:extLst>
          </p:cNvPr>
          <p:cNvSpPr>
            <a:spLocks noGrp="1"/>
          </p:cNvSpPr>
          <p:nvPr>
            <p:ph type="title"/>
          </p:nvPr>
        </p:nvSpPr>
        <p:spPr>
          <a:xfrm>
            <a:off x="838200" y="18255"/>
            <a:ext cx="10515600" cy="873567"/>
          </a:xfrm>
        </p:spPr>
        <p:txBody>
          <a:bodyPr/>
          <a:lstStyle/>
          <a:p>
            <a:pPr algn="ct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Preliminary Outcomes/Results</a:t>
            </a:r>
          </a:p>
        </p:txBody>
      </p:sp>
      <p:sp>
        <p:nvSpPr>
          <p:cNvPr id="2" name="Text Placeholder 1">
            <a:extLst>
              <a:ext uri="{FF2B5EF4-FFF2-40B4-BE49-F238E27FC236}">
                <a16:creationId xmlns:a16="http://schemas.microsoft.com/office/drawing/2014/main" id="{E29CEE37-4C51-2BA8-601E-F85EB68D2B80}"/>
              </a:ext>
            </a:extLst>
          </p:cNvPr>
          <p:cNvSpPr>
            <a:spLocks noGrp="1"/>
          </p:cNvSpPr>
          <p:nvPr>
            <p:ph type="body" idx="1"/>
          </p:nvPr>
        </p:nvSpPr>
        <p:spPr>
          <a:xfrm>
            <a:off x="260684" y="975956"/>
            <a:ext cx="10515600" cy="5466095"/>
          </a:xfrm>
        </p:spPr>
        <p:txBody>
          <a:bodyPr/>
          <a:lstStyle/>
          <a:p>
            <a:pPr marL="50800" indent="0">
              <a:buNone/>
            </a:pPr>
            <a:r>
              <a:rPr lang="en-US" sz="2400" b="1" dirty="0" err="1"/>
              <a:t>PalmTreeClassiferAPP</a:t>
            </a:r>
            <a:r>
              <a:rPr lang="en-US" sz="2400" b="1" dirty="0"/>
              <a:t>: End-to-End System Integration</a:t>
            </a:r>
          </a:p>
          <a:p>
            <a:pPr marL="50800" indent="0">
              <a:buNone/>
            </a:pPr>
            <a:r>
              <a:rPr lang="en-US" sz="1800" dirty="0"/>
              <a:t>The developed mobile application successfully bridges our Computer Vision and RAG modules into a cohesive, functional, and user-friendly platform. Our preliminary testing demonstrates the following capabilities:</a:t>
            </a:r>
          </a:p>
          <a:p>
            <a:pPr marL="50800" indent="0">
              <a:buNone/>
            </a:pPr>
            <a:endParaRPr lang="en-US" sz="1400" dirty="0"/>
          </a:p>
          <a:p>
            <a:r>
              <a:rPr lang="en-US" sz="1800" b="1" dirty="0"/>
              <a:t>Seamless User Experience (Image Input):</a:t>
            </a:r>
            <a:r>
              <a:rPr lang="en-US" sz="1800" dirty="0"/>
              <a:t> The interface provides intuitive access for users to either capture a live photo in the field or upload an existing image from their gallery, minimizing friction for farmers and researchers.</a:t>
            </a:r>
          </a:p>
          <a:p>
            <a:r>
              <a:rPr lang="en-US" sz="1800" b="1" dirty="0"/>
              <a:t>Real-Time Visual Classification:</a:t>
            </a:r>
            <a:r>
              <a:rPr lang="en-US" sz="1800" dirty="0"/>
              <a:t> The integrated </a:t>
            </a:r>
            <a:r>
              <a:rPr lang="en-US" sz="1800" dirty="0" err="1"/>
              <a:t>ConvNeXt</a:t>
            </a:r>
            <a:r>
              <a:rPr lang="en-US" sz="1800" dirty="0"/>
              <a:t> Small inference engine actively processes the uploaded image. As demonstrated in the showcase, it successfully and rapidly outputs the correct palm variety prediction (e.g., identifying the </a:t>
            </a:r>
            <a:r>
              <a:rPr lang="en-US" sz="1800" i="1" dirty="0" err="1"/>
              <a:t>Razeez</a:t>
            </a:r>
            <a:r>
              <a:rPr lang="en-US" sz="1800" dirty="0"/>
              <a:t> palm).</a:t>
            </a:r>
          </a:p>
          <a:p>
            <a:r>
              <a:rPr lang="en-US" sz="1800" b="1" dirty="0"/>
              <a:t>Context-Aware Semantic Retrieval:</a:t>
            </a:r>
            <a:r>
              <a:rPr lang="en-US" sz="1800" dirty="0"/>
              <a:t> The application establishes a direct operational link between the Vision and RAG systems. When the user asks natural language questions (e.g., </a:t>
            </a:r>
            <a:r>
              <a:rPr lang="en-US" sz="1800" i="1" dirty="0"/>
              <a:t>"Is </a:t>
            </a:r>
            <a:r>
              <a:rPr lang="en-US" sz="1800" i="1" dirty="0" err="1"/>
              <a:t>Razeez</a:t>
            </a:r>
            <a:r>
              <a:rPr lang="en-US" sz="1800" i="1" dirty="0"/>
              <a:t> palm tree good?"</a:t>
            </a:r>
            <a:r>
              <a:rPr lang="en-US" sz="1800" dirty="0"/>
              <a:t> or </a:t>
            </a:r>
            <a:r>
              <a:rPr lang="en-US" sz="1800" i="1" dirty="0"/>
              <a:t>"What is the best irrigation practices for </a:t>
            </a:r>
            <a:r>
              <a:rPr lang="en-US" sz="1800" i="1" dirty="0" err="1"/>
              <a:t>Razeez</a:t>
            </a:r>
            <a:r>
              <a:rPr lang="en-US" sz="1800" i="1" dirty="0"/>
              <a:t> palm tree?"</a:t>
            </a:r>
            <a:r>
              <a:rPr lang="en-US" sz="1800" dirty="0"/>
              <a:t>), the AI utilizes the visual prediction as contextual grounding.</a:t>
            </a:r>
          </a:p>
          <a:p>
            <a:r>
              <a:rPr lang="en-US" sz="1800" b="1" dirty="0"/>
              <a:t>Actionable Agricultural Intelligence:</a:t>
            </a:r>
            <a:r>
              <a:rPr lang="en-US" sz="1800" dirty="0"/>
              <a:t> The LLM successfully retrieves verified data from the specialized agricultural knowledge base, generating detailed, accurate, and highly specific domain advice rather than generic responses.</a:t>
            </a:r>
            <a:endParaRPr lang="en-GB" sz="1800" dirty="0"/>
          </a:p>
          <a:p>
            <a:pPr marL="50800" indent="0">
              <a:buNone/>
            </a:pPr>
            <a:endParaRPr lang="en-GB" dirty="0"/>
          </a:p>
        </p:txBody>
      </p:sp>
    </p:spTree>
    <p:extLst>
      <p:ext uri="{BB962C8B-B14F-4D97-AF65-F5344CB8AC3E}">
        <p14:creationId xmlns:p14="http://schemas.microsoft.com/office/powerpoint/2010/main" val="1754589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663C9-A4E1-70E6-7AC1-26A61C34D0E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0152A38-DF9F-99C2-72BE-8492C10E3DBD}"/>
              </a:ext>
            </a:extLst>
          </p:cNvPr>
          <p:cNvSpPr>
            <a:spLocks noGrp="1"/>
          </p:cNvSpPr>
          <p:nvPr>
            <p:ph type="title"/>
          </p:nvPr>
        </p:nvSpPr>
        <p:spPr>
          <a:xfrm>
            <a:off x="0" y="3325"/>
            <a:ext cx="12192000" cy="873567"/>
          </a:xfrm>
        </p:spPr>
        <p:txBody>
          <a:bodyPr/>
          <a:lstStyle/>
          <a:p>
            <a:pPr algn="ctr"/>
            <a:r>
              <a:rPr lang="en-US" sz="3600" dirty="0">
                <a:solidFill>
                  <a:schemeClr val="bg1"/>
                </a:solidFill>
                <a:latin typeface="Calibri" panose="020F0502020204030204" pitchFamily="34" charset="0"/>
                <a:ea typeface="Calibri" panose="020F0502020204030204" pitchFamily="34" charset="0"/>
                <a:cs typeface="Calibri" panose="020F0502020204030204" pitchFamily="34" charset="0"/>
              </a:rPr>
              <a:t>Intermediate Conclusions</a:t>
            </a:r>
          </a:p>
        </p:txBody>
      </p:sp>
      <p:sp>
        <p:nvSpPr>
          <p:cNvPr id="2" name="Text Placeholder 1">
            <a:extLst>
              <a:ext uri="{FF2B5EF4-FFF2-40B4-BE49-F238E27FC236}">
                <a16:creationId xmlns:a16="http://schemas.microsoft.com/office/drawing/2014/main" id="{0EA2F97A-94F0-C1B5-7668-C239F3AA68D2}"/>
              </a:ext>
            </a:extLst>
          </p:cNvPr>
          <p:cNvSpPr>
            <a:spLocks noGrp="1"/>
          </p:cNvSpPr>
          <p:nvPr>
            <p:ph type="body" idx="1"/>
          </p:nvPr>
        </p:nvSpPr>
        <p:spPr>
          <a:xfrm>
            <a:off x="233756" y="976277"/>
            <a:ext cx="11120044" cy="5200686"/>
          </a:xfrm>
        </p:spPr>
        <p:txBody>
          <a:bodyPr/>
          <a:lstStyle/>
          <a:p>
            <a:pPr marL="50800" indent="0">
              <a:buNone/>
            </a:pPr>
            <a:r>
              <a:rPr lang="en-US" sz="2400" b="1" dirty="0"/>
              <a:t>Commentary on the Results</a:t>
            </a:r>
          </a:p>
          <a:p>
            <a:pPr marL="50800" indent="0">
              <a:buNone/>
            </a:pPr>
            <a:endParaRPr lang="en-US" sz="2400" b="1" dirty="0"/>
          </a:p>
          <a:p>
            <a:r>
              <a:rPr lang="en-US" sz="2000" b="1" dirty="0"/>
              <a:t>Architectural Superiority:</a:t>
            </a:r>
            <a:r>
              <a:rPr lang="en-US" sz="2000" dirty="0"/>
              <a:t> The comparative evaluation clearly justifies the shift from traditional models (like </a:t>
            </a:r>
            <a:r>
              <a:rPr lang="en-US" sz="2000" dirty="0" err="1"/>
              <a:t>ResNet</a:t>
            </a:r>
            <a:r>
              <a:rPr lang="en-US" sz="2000" dirty="0"/>
              <a:t> or </a:t>
            </a:r>
            <a:r>
              <a:rPr lang="en-US" sz="2000" dirty="0" err="1"/>
              <a:t>MobileNet</a:t>
            </a:r>
            <a:r>
              <a:rPr lang="en-US" sz="2000" dirty="0"/>
              <a:t>) to the </a:t>
            </a:r>
            <a:r>
              <a:rPr lang="en-US" sz="2000" dirty="0" err="1"/>
              <a:t>ConvNeXt</a:t>
            </a:r>
            <a:r>
              <a:rPr lang="en-US" sz="2000" dirty="0"/>
              <a:t> Small architecture. Achieving a 0.98 accuracy and 0.97 F1-score indicates that </a:t>
            </a:r>
            <a:r>
              <a:rPr lang="en-US" sz="2000" dirty="0" err="1"/>
              <a:t>ConvNeXt’s</a:t>
            </a:r>
            <a:r>
              <a:rPr lang="en-US" sz="2000" dirty="0"/>
              <a:t> modernized, transformer-inspired design is significantly better at extracting the fine-grained textures needed to differentiate palm leaves.</a:t>
            </a:r>
          </a:p>
          <a:p>
            <a:r>
              <a:rPr lang="en-US" sz="2000" b="1" dirty="0"/>
              <a:t>Robust Class Separation:</a:t>
            </a:r>
            <a:r>
              <a:rPr lang="en-US" sz="2000" dirty="0"/>
              <a:t> The confusion matrix is highly encouraging. The </a:t>
            </a:r>
            <a:r>
              <a:rPr lang="en-US" sz="2000" dirty="0" err="1"/>
              <a:t>Khalas</a:t>
            </a:r>
            <a:r>
              <a:rPr lang="en-US" sz="2000" dirty="0"/>
              <a:t> variety is identified with near-perfect accuracy (310/315). More importantly, the historical challenge of distinguishing between the visually similar </a:t>
            </a:r>
            <a:r>
              <a:rPr lang="en-US" sz="2000" dirty="0" err="1"/>
              <a:t>Razeez</a:t>
            </a:r>
            <a:r>
              <a:rPr lang="en-US" sz="2000" dirty="0"/>
              <a:t> and </a:t>
            </a:r>
            <a:r>
              <a:rPr lang="en-US" sz="2000" dirty="0" err="1"/>
              <a:t>Shishi</a:t>
            </a:r>
            <a:r>
              <a:rPr lang="en-US" sz="2000" dirty="0"/>
              <a:t> varieties has been largely solved, with a combined error rate of roughly 2% across those two classes.</a:t>
            </a:r>
          </a:p>
          <a:p>
            <a:r>
              <a:rPr lang="en-US" sz="2000" b="1" dirty="0"/>
              <a:t>Environmental Consistency:</a:t>
            </a:r>
            <a:r>
              <a:rPr lang="en-US" sz="2000" dirty="0"/>
              <a:t> Building on our Milestone 2 experiments, which demonstrated </a:t>
            </a:r>
            <a:r>
              <a:rPr lang="en-US" sz="2000" dirty="0" err="1"/>
              <a:t>ConvNeXt</a:t>
            </a:r>
            <a:r>
              <a:rPr lang="en-US" sz="2000" dirty="0"/>
              <a:t> Small's 98.37% accuracy on combined Day and Night imagery , these final metrics prove the model is not overfitting to ideal lighting conditions, but has genuinely learned the intrinsic biological features of the trees.</a:t>
            </a:r>
            <a:endParaRPr lang="en-GB" sz="2000" b="1" dirty="0"/>
          </a:p>
        </p:txBody>
      </p:sp>
    </p:spTree>
    <p:extLst>
      <p:ext uri="{BB962C8B-B14F-4D97-AF65-F5344CB8AC3E}">
        <p14:creationId xmlns:p14="http://schemas.microsoft.com/office/powerpoint/2010/main" val="2254672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BA8DD-126C-9960-8B4B-FADEF8A9BB1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C92A405-0CB0-2A8E-1916-2F686D7AEF27}"/>
              </a:ext>
            </a:extLst>
          </p:cNvPr>
          <p:cNvSpPr>
            <a:spLocks noGrp="1"/>
          </p:cNvSpPr>
          <p:nvPr>
            <p:ph type="title"/>
          </p:nvPr>
        </p:nvSpPr>
        <p:spPr>
          <a:xfrm>
            <a:off x="0" y="3325"/>
            <a:ext cx="12192000" cy="873567"/>
          </a:xfrm>
        </p:spPr>
        <p:txBody>
          <a:bodyPr/>
          <a:lstStyle/>
          <a:p>
            <a:pPr algn="ctr"/>
            <a:r>
              <a:rPr lang="en-US" sz="3600" dirty="0">
                <a:solidFill>
                  <a:schemeClr val="bg1"/>
                </a:solidFill>
                <a:latin typeface="Calibri" panose="020F0502020204030204" pitchFamily="34" charset="0"/>
                <a:ea typeface="Calibri" panose="020F0502020204030204" pitchFamily="34" charset="0"/>
                <a:cs typeface="Calibri" panose="020F0502020204030204" pitchFamily="34" charset="0"/>
              </a:rPr>
              <a:t>Intermediate Conclusions</a:t>
            </a:r>
          </a:p>
        </p:txBody>
      </p:sp>
      <p:sp>
        <p:nvSpPr>
          <p:cNvPr id="2" name="Text Placeholder 1">
            <a:extLst>
              <a:ext uri="{FF2B5EF4-FFF2-40B4-BE49-F238E27FC236}">
                <a16:creationId xmlns:a16="http://schemas.microsoft.com/office/drawing/2014/main" id="{9B42FE1E-4D94-2CA6-2579-D198107003F3}"/>
              </a:ext>
            </a:extLst>
          </p:cNvPr>
          <p:cNvSpPr>
            <a:spLocks noGrp="1"/>
          </p:cNvSpPr>
          <p:nvPr>
            <p:ph type="body" idx="1"/>
          </p:nvPr>
        </p:nvSpPr>
        <p:spPr>
          <a:xfrm>
            <a:off x="233756" y="976277"/>
            <a:ext cx="11120044" cy="5200686"/>
          </a:xfrm>
        </p:spPr>
        <p:txBody>
          <a:bodyPr/>
          <a:lstStyle/>
          <a:p>
            <a:pPr marL="50800" indent="0">
              <a:buNone/>
            </a:pPr>
            <a:r>
              <a:rPr lang="en-US" sz="2400" b="1" dirty="0"/>
              <a:t>Key Conclusions</a:t>
            </a:r>
          </a:p>
          <a:p>
            <a:pPr marL="50800" indent="0">
              <a:buNone/>
            </a:pPr>
            <a:endParaRPr lang="en-US" sz="2400" b="1" dirty="0"/>
          </a:p>
          <a:p>
            <a:r>
              <a:rPr lang="en-US" sz="2000" b="1" dirty="0"/>
              <a:t>Validation of the Semantic AI Framework:</a:t>
            </a:r>
            <a:r>
              <a:rPr lang="en-US" sz="2000" dirty="0"/>
              <a:t> The dual-system design is a success. By securing a 98% visual classification accuracy, we guarantee that the RAG (Retrieval-Augmented Generation) module is fed the correct context. This prevents the "cascading error" problem where a bad visual guess leads to incorrect agricultural advice.</a:t>
            </a:r>
          </a:p>
          <a:p>
            <a:r>
              <a:rPr lang="en-US" sz="2000" b="1" dirty="0"/>
              <a:t>Readiness for Field Deployment:</a:t>
            </a:r>
            <a:r>
              <a:rPr lang="en-US" sz="2000" dirty="0"/>
              <a:t> The high Precision (0.97) and Recall (0.98) scores indicate the system generates very few false positives or false negatives. It is highly reliable and safe for actual farmers in the Al-Ahsa Oasis to use for critical crop management decisions.</a:t>
            </a:r>
          </a:p>
          <a:p>
            <a:r>
              <a:rPr lang="en-US" sz="2000" b="1" dirty="0"/>
              <a:t>Achieving the Project Vision:</a:t>
            </a:r>
            <a:r>
              <a:rPr lang="en-US" sz="2000" dirty="0"/>
              <a:t> The implemented system successfully meets its primary goal: it provides a highly accurate, digital, and easily accessible method to document and utilize Al-Ahsa’s agricultural heritage, directly supporting Vision 2030 initiatives.</a:t>
            </a:r>
            <a:endParaRPr lang="en-GB" sz="2000" b="1" dirty="0"/>
          </a:p>
        </p:txBody>
      </p:sp>
    </p:spTree>
    <p:extLst>
      <p:ext uri="{BB962C8B-B14F-4D97-AF65-F5344CB8AC3E}">
        <p14:creationId xmlns:p14="http://schemas.microsoft.com/office/powerpoint/2010/main" val="321458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45AD1-ABEE-1DD0-971F-D4F163FE0E8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D5BA0EE-4441-F58D-64F9-5E31710F3809}"/>
              </a:ext>
            </a:extLst>
          </p:cNvPr>
          <p:cNvSpPr>
            <a:spLocks noGrp="1"/>
          </p:cNvSpPr>
          <p:nvPr>
            <p:ph type="title"/>
          </p:nvPr>
        </p:nvSpPr>
        <p:spPr>
          <a:xfrm>
            <a:off x="1" y="0"/>
            <a:ext cx="12192000" cy="873567"/>
          </a:xfrm>
        </p:spPr>
        <p:txBody>
          <a:bodyPr/>
          <a:lstStyle/>
          <a:p>
            <a:pPr algn="ctr"/>
            <a:r>
              <a:rPr lang="en-US" sz="4000" dirty="0">
                <a:solidFill>
                  <a:schemeClr val="bg1"/>
                </a:solidFill>
                <a:latin typeface="Calibri" panose="020F0502020204030204" pitchFamily="34" charset="0"/>
                <a:ea typeface="Calibri" panose="020F0502020204030204" pitchFamily="34" charset="0"/>
                <a:cs typeface="Calibri" panose="020F0502020204030204" pitchFamily="34" charset="0"/>
              </a:rPr>
              <a:t>What’s Next</a:t>
            </a:r>
          </a:p>
        </p:txBody>
      </p:sp>
      <p:sp>
        <p:nvSpPr>
          <p:cNvPr id="2" name="Text Placeholder 1">
            <a:extLst>
              <a:ext uri="{FF2B5EF4-FFF2-40B4-BE49-F238E27FC236}">
                <a16:creationId xmlns:a16="http://schemas.microsoft.com/office/drawing/2014/main" id="{515F6B74-F52F-25B0-AA69-F288190D39D2}"/>
              </a:ext>
            </a:extLst>
          </p:cNvPr>
          <p:cNvSpPr>
            <a:spLocks noGrp="1"/>
          </p:cNvSpPr>
          <p:nvPr>
            <p:ph type="body" idx="1"/>
          </p:nvPr>
        </p:nvSpPr>
        <p:spPr>
          <a:xfrm>
            <a:off x="143440" y="804283"/>
            <a:ext cx="10515600" cy="5459014"/>
          </a:xfrm>
        </p:spPr>
        <p:txBody>
          <a:bodyPr/>
          <a:lstStyle/>
          <a:p>
            <a:pPr marL="50800" indent="0">
              <a:buNone/>
            </a:pPr>
            <a:r>
              <a:rPr lang="it-IT" sz="2400" b="1" dirty="0"/>
              <a:t>1. RAG Data Acquisition &amp; Integration</a:t>
            </a:r>
          </a:p>
          <a:p>
            <a:pPr marL="50800" indent="0">
              <a:buNone/>
            </a:pPr>
            <a:r>
              <a:rPr lang="en-US" sz="2000" b="1" dirty="0"/>
              <a:t>Task:</a:t>
            </a:r>
            <a:r>
              <a:rPr lang="en-US" sz="2000" dirty="0"/>
              <a:t> Secure and ingest the official agricultural documents, including the confidential information</a:t>
            </a:r>
          </a:p>
          <a:p>
            <a:r>
              <a:rPr lang="en-US" sz="2000" dirty="0"/>
              <a:t>Recommended Actions:</a:t>
            </a:r>
          </a:p>
          <a:p>
            <a:pPr lvl="1"/>
            <a:r>
              <a:rPr lang="en-US" sz="1600" b="1" dirty="0"/>
              <a:t>Data Handling </a:t>
            </a:r>
            <a:r>
              <a:rPr lang="en-US" sz="1600" b="1" dirty="0" err="1"/>
              <a:t>Protocol:</a:t>
            </a:r>
            <a:r>
              <a:rPr lang="en-US" sz="1400" dirty="0" err="1"/>
              <a:t>Since</a:t>
            </a:r>
            <a:r>
              <a:rPr lang="en-US" sz="1400" dirty="0"/>
              <a:t> you are handling confidential information, ensure your data ingestion pipeline operates in a secure, local, or encrypted environment before pushing anything to a broader database.</a:t>
            </a:r>
          </a:p>
          <a:p>
            <a:pPr lvl="1"/>
            <a:r>
              <a:rPr lang="en-US" sz="1600" b="1" dirty="0"/>
              <a:t>Pipeline Execution:</a:t>
            </a:r>
            <a:r>
              <a:rPr lang="en-US" sz="1600" dirty="0"/>
              <a:t> </a:t>
            </a:r>
            <a:r>
              <a:rPr lang="en-US" sz="1400" dirty="0"/>
              <a:t>Run the newly acquired documents through your existing </a:t>
            </a:r>
            <a:r>
              <a:rPr lang="en-US" sz="1400" dirty="0" err="1"/>
              <a:t>LangChain</a:t>
            </a:r>
            <a:r>
              <a:rPr lang="en-US" sz="1400" dirty="0"/>
              <a:t> text-splitter and </a:t>
            </a:r>
            <a:r>
              <a:rPr lang="en-US" sz="1400" dirty="0" err="1"/>
              <a:t>HuggingFace</a:t>
            </a:r>
            <a:r>
              <a:rPr lang="en-US" sz="1400" dirty="0"/>
              <a:t> embedding models .</a:t>
            </a:r>
          </a:p>
          <a:p>
            <a:pPr lvl="1"/>
            <a:r>
              <a:rPr lang="en-US" sz="1600" b="1" dirty="0"/>
              <a:t>Update Vector Database:</a:t>
            </a:r>
            <a:r>
              <a:rPr lang="en-US" sz="1600" dirty="0"/>
              <a:t> </a:t>
            </a:r>
            <a:r>
              <a:rPr lang="en-US" sz="1400" dirty="0"/>
              <a:t>Re-index your </a:t>
            </a:r>
            <a:r>
              <a:rPr lang="en-US" sz="1400" dirty="0" err="1"/>
              <a:t>ChromaDB</a:t>
            </a:r>
            <a:r>
              <a:rPr lang="en-US" sz="1400" dirty="0"/>
              <a:t> vector store with this comprehensive, high-quality data.</a:t>
            </a:r>
          </a:p>
          <a:p>
            <a:pPr marL="50800" indent="0">
              <a:buNone/>
            </a:pPr>
            <a:r>
              <a:rPr lang="en-US" sz="2400" b="1" dirty="0"/>
              <a:t>2. System Testing &amp; Quality Assurance</a:t>
            </a:r>
          </a:p>
          <a:p>
            <a:pPr marL="50800" indent="0">
              <a:buNone/>
            </a:pPr>
            <a:r>
              <a:rPr lang="en-US" sz="2000" b="1" dirty="0"/>
              <a:t>Task:</a:t>
            </a:r>
            <a:r>
              <a:rPr lang="en-US" sz="2000" dirty="0"/>
              <a:t> Rigorously test the RAG system after the new documents have been integrated.</a:t>
            </a:r>
          </a:p>
          <a:p>
            <a:r>
              <a:rPr lang="en-US" sz="2000" dirty="0"/>
              <a:t>Recommended Actions:</a:t>
            </a:r>
          </a:p>
          <a:p>
            <a:pPr lvl="1"/>
            <a:r>
              <a:rPr lang="en-US" sz="1600" b="1" dirty="0"/>
              <a:t>Semantic Validation:</a:t>
            </a:r>
            <a:r>
              <a:rPr lang="en-US" sz="1600" dirty="0"/>
              <a:t> Work with domain experts to run test queries (e.g., specific treatment questions for the </a:t>
            </a:r>
            <a:r>
              <a:rPr lang="en-US" sz="1600" dirty="0" err="1"/>
              <a:t>Razeez</a:t>
            </a:r>
            <a:r>
              <a:rPr lang="en-US" sz="1600" dirty="0"/>
              <a:t> variety) to ensure the LLM retrieves the correct, newly added confidential data without hallucinating.</a:t>
            </a:r>
          </a:p>
          <a:p>
            <a:pPr lvl="1"/>
            <a:r>
              <a:rPr lang="en-US" sz="1600" b="1" dirty="0"/>
              <a:t>Integration Testing:</a:t>
            </a:r>
            <a:r>
              <a:rPr lang="en-US" sz="1600" dirty="0"/>
              <a:t> Test the full end-to-end loop: Upload a photo -&gt; Vision model predicts the class -&gt; Class name is injected into the prompt -&gt; RAG pulls the correct answer from the new documents.</a:t>
            </a:r>
          </a:p>
          <a:p>
            <a:pPr lvl="1"/>
            <a:r>
              <a:rPr lang="en-US" sz="1600" b="1" dirty="0"/>
              <a:t>Latency Checks:</a:t>
            </a:r>
            <a:r>
              <a:rPr lang="en-US" sz="1600" dirty="0"/>
              <a:t> Measure how long it takes to return an answer now that the vector database is larger</a:t>
            </a:r>
          </a:p>
          <a:p>
            <a:endParaRPr lang="en-US" dirty="0"/>
          </a:p>
          <a:p>
            <a:endParaRPr lang="en-US" dirty="0"/>
          </a:p>
          <a:p>
            <a:pPr marL="50800" indent="0">
              <a:buNone/>
            </a:pPr>
            <a:endParaRPr lang="en-US" dirty="0"/>
          </a:p>
        </p:txBody>
      </p:sp>
    </p:spTree>
    <p:extLst>
      <p:ext uri="{BB962C8B-B14F-4D97-AF65-F5344CB8AC3E}">
        <p14:creationId xmlns:p14="http://schemas.microsoft.com/office/powerpoint/2010/main" val="9896801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D858F-75DF-3AC1-8B2D-8710500001D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3285800-A5AE-C68E-BC6B-D24C9B6C402F}"/>
              </a:ext>
            </a:extLst>
          </p:cNvPr>
          <p:cNvSpPr>
            <a:spLocks noGrp="1"/>
          </p:cNvSpPr>
          <p:nvPr>
            <p:ph type="title"/>
          </p:nvPr>
        </p:nvSpPr>
        <p:spPr>
          <a:xfrm>
            <a:off x="1" y="0"/>
            <a:ext cx="12192000" cy="873567"/>
          </a:xfrm>
        </p:spPr>
        <p:txBody>
          <a:bodyPr/>
          <a:lstStyle/>
          <a:p>
            <a:pPr algn="ctr"/>
            <a:r>
              <a:rPr lang="en-US" sz="4000" dirty="0">
                <a:solidFill>
                  <a:schemeClr val="bg1"/>
                </a:solidFill>
                <a:latin typeface="Calibri" panose="020F0502020204030204" pitchFamily="34" charset="0"/>
                <a:ea typeface="Calibri" panose="020F0502020204030204" pitchFamily="34" charset="0"/>
                <a:cs typeface="Calibri" panose="020F0502020204030204" pitchFamily="34" charset="0"/>
              </a:rPr>
              <a:t>What’s Next</a:t>
            </a:r>
          </a:p>
        </p:txBody>
      </p:sp>
      <p:sp>
        <p:nvSpPr>
          <p:cNvPr id="2" name="Text Placeholder 1">
            <a:extLst>
              <a:ext uri="{FF2B5EF4-FFF2-40B4-BE49-F238E27FC236}">
                <a16:creationId xmlns:a16="http://schemas.microsoft.com/office/drawing/2014/main" id="{B41B0D01-3430-7CF2-6D59-BDD7C324953B}"/>
              </a:ext>
            </a:extLst>
          </p:cNvPr>
          <p:cNvSpPr>
            <a:spLocks noGrp="1"/>
          </p:cNvSpPr>
          <p:nvPr>
            <p:ph type="body" idx="1"/>
          </p:nvPr>
        </p:nvSpPr>
        <p:spPr>
          <a:xfrm>
            <a:off x="143440" y="804283"/>
            <a:ext cx="10515600" cy="5459014"/>
          </a:xfrm>
        </p:spPr>
        <p:txBody>
          <a:bodyPr/>
          <a:lstStyle/>
          <a:p>
            <a:pPr marL="50800" indent="0">
              <a:buNone/>
            </a:pPr>
            <a:r>
              <a:rPr lang="en-US" sz="2400" b="1" dirty="0"/>
              <a:t>3. Production Deployment &amp; Scaling (IF-Funded)</a:t>
            </a:r>
          </a:p>
          <a:p>
            <a:pPr marL="50800" indent="0">
              <a:buNone/>
            </a:pPr>
            <a:r>
              <a:rPr lang="en-US" sz="2000" b="1" dirty="0"/>
              <a:t>Task:</a:t>
            </a:r>
            <a:r>
              <a:rPr lang="en-US" sz="2000" dirty="0"/>
              <a:t> Migrate the system from a local/development environment to a production server.</a:t>
            </a:r>
          </a:p>
          <a:p>
            <a:r>
              <a:rPr lang="en-US" sz="2000" dirty="0"/>
              <a:t>Recommended Actions:</a:t>
            </a:r>
          </a:p>
          <a:p>
            <a:pPr lvl="1"/>
            <a:r>
              <a:rPr lang="en-US" sz="1600" b="1" dirty="0"/>
              <a:t>Cloud Infrastructure:</a:t>
            </a:r>
            <a:r>
              <a:rPr lang="en-US" sz="1600" dirty="0"/>
              <a:t> Set up a secure cloud server (e.g., AWS, Google Cloud, or Azure). You will need a server environment capable of handling the GPU requirements for your </a:t>
            </a:r>
            <a:r>
              <a:rPr lang="en-US" sz="1600" dirty="0" err="1"/>
              <a:t>ConvNeXt</a:t>
            </a:r>
            <a:r>
              <a:rPr lang="en-US" sz="1600" dirty="0"/>
              <a:t> Small model and the memory requirements for your LLM and vector database.</a:t>
            </a:r>
          </a:p>
          <a:p>
            <a:pPr lvl="1"/>
            <a:r>
              <a:rPr lang="en-US" sz="1600" b="1" dirty="0"/>
              <a:t>API Development:</a:t>
            </a:r>
            <a:r>
              <a:rPr lang="en-US" sz="1600" dirty="0"/>
              <a:t> Create a robust REST API to handle the communication between your mobile app front-end and your heavy AI back-end securely.</a:t>
            </a:r>
            <a:endParaRPr lang="en-US" dirty="0"/>
          </a:p>
          <a:p>
            <a:pPr marL="76200" indent="0">
              <a:buNone/>
            </a:pPr>
            <a:r>
              <a:rPr lang="en-US" sz="2000" b="1" dirty="0"/>
              <a:t>Task:</a:t>
            </a:r>
            <a:r>
              <a:rPr lang="en-US" sz="2000" dirty="0"/>
              <a:t> Deploy the mobile application to Android and iOS users.</a:t>
            </a:r>
          </a:p>
          <a:p>
            <a:pPr marL="419100" indent="-342900"/>
            <a:r>
              <a:rPr lang="en-US" sz="2000" dirty="0"/>
              <a:t>Recommended Actions:</a:t>
            </a:r>
          </a:p>
          <a:p>
            <a:pPr lvl="1"/>
            <a:r>
              <a:rPr lang="en-US" sz="1600" b="1" dirty="0"/>
              <a:t>Store Compliance:</a:t>
            </a:r>
            <a:r>
              <a:rPr lang="en-US" sz="1600" dirty="0"/>
              <a:t> Review the submission guidelines for both the Apple App Store and Google Play Store, particularly focusing on data privacy policies (crucial since you are handling user locations/images and confidential database info).</a:t>
            </a:r>
          </a:p>
          <a:p>
            <a:pPr lvl="1"/>
            <a:r>
              <a:rPr lang="en-US" sz="1600" b="1" dirty="0"/>
              <a:t>Beta Testing:</a:t>
            </a:r>
            <a:r>
              <a:rPr lang="en-US" sz="1600" dirty="0"/>
              <a:t> Before a full public launch, run a closed beta test via TestFlight (iOS) and Google Play Console (Android) with a select group of local Al-Ahsa farmers to gather real-world UI/UX feedback.</a:t>
            </a:r>
            <a:endParaRPr lang="en-US" dirty="0"/>
          </a:p>
          <a:p>
            <a:endParaRPr lang="en-US" dirty="0"/>
          </a:p>
          <a:p>
            <a:endParaRPr lang="en-US" b="1" dirty="0"/>
          </a:p>
          <a:p>
            <a:pPr marL="50800" indent="0">
              <a:buNone/>
            </a:pPr>
            <a:endParaRPr lang="en-US" dirty="0"/>
          </a:p>
        </p:txBody>
      </p:sp>
    </p:spTree>
    <p:extLst>
      <p:ext uri="{BB962C8B-B14F-4D97-AF65-F5344CB8AC3E}">
        <p14:creationId xmlns:p14="http://schemas.microsoft.com/office/powerpoint/2010/main" val="1409083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53C32-ECB8-AB21-3458-E370049EA2C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FD2B273-28D4-E7DA-0497-1E43780B6DFF}"/>
              </a:ext>
            </a:extLst>
          </p:cNvPr>
          <p:cNvSpPr>
            <a:spLocks noGrp="1"/>
          </p:cNvSpPr>
          <p:nvPr>
            <p:ph type="title"/>
          </p:nvPr>
        </p:nvSpPr>
        <p:spPr>
          <a:xfrm>
            <a:off x="1" y="0"/>
            <a:ext cx="12192000" cy="873567"/>
          </a:xfrm>
        </p:spPr>
        <p:txBody>
          <a:bodyPr/>
          <a:lstStyle/>
          <a:p>
            <a:pPr algn="ctr"/>
            <a:r>
              <a:rPr lang="en-US" sz="4000" dirty="0">
                <a:solidFill>
                  <a:schemeClr val="bg1"/>
                </a:solidFill>
                <a:latin typeface="Calibri" panose="020F0502020204030204" pitchFamily="34" charset="0"/>
                <a:ea typeface="Calibri" panose="020F0502020204030204" pitchFamily="34" charset="0"/>
                <a:cs typeface="Calibri" panose="020F0502020204030204" pitchFamily="34" charset="0"/>
              </a:rPr>
              <a:t>What’s Next</a:t>
            </a:r>
          </a:p>
        </p:txBody>
      </p:sp>
      <p:sp>
        <p:nvSpPr>
          <p:cNvPr id="2" name="Text Placeholder 1">
            <a:extLst>
              <a:ext uri="{FF2B5EF4-FFF2-40B4-BE49-F238E27FC236}">
                <a16:creationId xmlns:a16="http://schemas.microsoft.com/office/drawing/2014/main" id="{8851C327-C5B8-594A-256B-A9DF940C53B0}"/>
              </a:ext>
            </a:extLst>
          </p:cNvPr>
          <p:cNvSpPr>
            <a:spLocks noGrp="1"/>
          </p:cNvSpPr>
          <p:nvPr>
            <p:ph type="body" idx="1"/>
          </p:nvPr>
        </p:nvSpPr>
        <p:spPr>
          <a:xfrm>
            <a:off x="143440" y="804283"/>
            <a:ext cx="10515600" cy="5459014"/>
          </a:xfrm>
        </p:spPr>
        <p:txBody>
          <a:bodyPr/>
          <a:lstStyle/>
          <a:p>
            <a:pPr marL="50800" indent="0">
              <a:buNone/>
            </a:pPr>
            <a:r>
              <a:rPr lang="en-US" sz="2400" b="1" dirty="0"/>
              <a:t>4. Final Presentation Preparation</a:t>
            </a:r>
          </a:p>
          <a:p>
            <a:pPr marL="50800" indent="0">
              <a:buNone/>
            </a:pPr>
            <a:r>
              <a:rPr lang="en-US" sz="2000" b="1" dirty="0"/>
              <a:t>Task:</a:t>
            </a:r>
            <a:r>
              <a:rPr lang="en-US" sz="2000" dirty="0"/>
              <a:t> Package these achievements for Milestone 3 and potential investors.</a:t>
            </a:r>
          </a:p>
          <a:p>
            <a:r>
              <a:rPr lang="en-US" sz="2000" dirty="0"/>
              <a:t>Recommended Actions:</a:t>
            </a:r>
          </a:p>
          <a:p>
            <a:pPr lvl="1"/>
            <a:r>
              <a:rPr lang="en-US" dirty="0"/>
              <a:t>Clearly define the "Path to Production" for your panel, showing them exactly how the funding will be utilized (server costs, app store fees, security scaling).</a:t>
            </a:r>
          </a:p>
          <a:p>
            <a:pPr marL="50800" indent="0">
              <a:buNone/>
            </a:pPr>
            <a:endParaRPr lang="en-US" dirty="0"/>
          </a:p>
        </p:txBody>
      </p:sp>
    </p:spTree>
    <p:extLst>
      <p:ext uri="{BB962C8B-B14F-4D97-AF65-F5344CB8AC3E}">
        <p14:creationId xmlns:p14="http://schemas.microsoft.com/office/powerpoint/2010/main" val="2095826755"/>
      </p:ext>
    </p:extLst>
  </p:cSld>
  <p:clrMapOvr>
    <a:masterClrMapping/>
  </p:clrMapOvr>
</p:sld>
</file>

<file path=ppt/theme/theme1.xml><?xml version="1.0" encoding="utf-8"?>
<a:theme xmlns:a="http://schemas.openxmlformats.org/drawingml/2006/main" name="Office Theme">
  <a:themeElements>
    <a:clrScheme name="Custom 1">
      <a:dk1>
        <a:srgbClr val="005773"/>
      </a:dk1>
      <a:lt1>
        <a:srgbClr val="FFFFFF"/>
      </a:lt1>
      <a:dk2>
        <a:srgbClr val="005773"/>
      </a:dk2>
      <a:lt2>
        <a:srgbClr val="E7E6E6"/>
      </a:lt2>
      <a:accent1>
        <a:srgbClr val="0C7078"/>
      </a:accent1>
      <a:accent2>
        <a:srgbClr val="C29943"/>
      </a:accent2>
      <a:accent3>
        <a:srgbClr val="005773"/>
      </a:accent3>
      <a:accent4>
        <a:srgbClr val="C29943"/>
      </a:accent4>
      <a:accent5>
        <a:srgbClr val="C0392B"/>
      </a:accent5>
      <a:accent6>
        <a:srgbClr val="2C3F50"/>
      </a:accent6>
      <a:hlink>
        <a:srgbClr val="0C7078"/>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مستند" ma:contentTypeID="0x0101006E715EFE7EF24E49A67E10E0AC442593" ma:contentTypeVersion="2" ma:contentTypeDescription="إنشاء مستند جديد." ma:contentTypeScope="" ma:versionID="903dfd8788becfc1a53525e0c8ee416e">
  <xsd:schema xmlns:xsd="http://www.w3.org/2001/XMLSchema" xmlns:xs="http://www.w3.org/2001/XMLSchema" xmlns:p="http://schemas.microsoft.com/office/2006/metadata/properties" xmlns:ns1="http://schemas.microsoft.com/sharepoint/v3" xmlns:ns2="62be96db-45dc-4974-8e89-41c5da6715c4" targetNamespace="http://schemas.microsoft.com/office/2006/metadata/properties" ma:root="true" ma:fieldsID="c2338bbc0c60615803c489042680e789" ns1:_="" ns2:_="">
    <xsd:import namespace="http://schemas.microsoft.com/sharepoint/v3"/>
    <xsd:import namespace="62be96db-45dc-4974-8e89-41c5da6715c4"/>
    <xsd:element name="properties">
      <xsd:complexType>
        <xsd:sequence>
          <xsd:element name="documentManagement">
            <xsd:complexType>
              <xsd:all>
                <xsd:element ref="ns1:PublishingStartDate" minOccurs="0"/>
                <xsd:element ref="ns1:PublishingExpirationDate" minOccurs="0"/>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جدولة تاريخ البدء" ma:description="" ma:hidden="true" ma:internalName="PublishingStartDate">
      <xsd:simpleType>
        <xsd:restriction base="dms:Unknown"/>
      </xsd:simpleType>
    </xsd:element>
    <xsd:element name="PublishingExpirationDate" ma:index="9" nillable="true" ma:displayName="جدولة تاريخ الانتهاء"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2be96db-45dc-4974-8e89-41c5da6715c4" elementFormDefault="qualified">
    <xsd:import namespace="http://schemas.microsoft.com/office/2006/documentManagement/types"/>
    <xsd:import namespace="http://schemas.microsoft.com/office/infopath/2007/PartnerControls"/>
    <xsd:element name="SharedWithUsers" ma:index="10" nillable="true" ma:displayName="تمت مشاركته مع"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نوع المحتوى"/>
        <xsd:element ref="dc:title" minOccurs="0" maxOccurs="1" ma:index="4" ma:displayName="العنوان"/>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6A98CC6-E3F6-4009-8360-B02D01FA9F33}">
  <ds:schemaRefs>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55198AC3-25A2-46D6-BDD4-FACD09AAC7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2be96db-45dc-4974-8e89-41c5da6715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F441663-035F-4D1A-9752-9180B3D9B86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4634</TotalTime>
  <Words>2203</Words>
  <Application>Microsoft Office PowerPoint</Application>
  <PresentationFormat>Widescreen</PresentationFormat>
  <Paragraphs>206</Paragraphs>
  <Slides>20</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Times New Roman</vt:lpstr>
      <vt:lpstr>DIN Next LT Arabic</vt:lpstr>
      <vt:lpstr>Calibri</vt:lpstr>
      <vt:lpstr>Office Theme</vt:lpstr>
      <vt:lpstr>Semantic AI Framework for Palm Tree and Date Fruit Variety Classification and Knowledge Retrieval</vt:lpstr>
      <vt:lpstr>Agenda</vt:lpstr>
      <vt:lpstr>Project Recap</vt:lpstr>
      <vt:lpstr>Project Recap</vt:lpstr>
      <vt:lpstr>Details of Partial Implementation</vt:lpstr>
      <vt:lpstr>Details of Partial Implementation</vt:lpstr>
      <vt:lpstr>Details of Partial Implementation</vt:lpstr>
      <vt:lpstr>Details of Partial Implementation</vt:lpstr>
      <vt:lpstr>Tools &amp; Techniques used in Implementation</vt:lpstr>
      <vt:lpstr>Tools &amp; Techniques used in Implementation</vt:lpstr>
      <vt:lpstr>Preliminary Outcomes/Results</vt:lpstr>
      <vt:lpstr>Preliminary Outcomes/Results</vt:lpstr>
      <vt:lpstr>Preliminary Outcomes/Results</vt:lpstr>
      <vt:lpstr>Preliminary Outcomes/Results</vt:lpstr>
      <vt:lpstr>Preliminary Outcomes/Results</vt:lpstr>
      <vt:lpstr>Intermediate Conclusions</vt:lpstr>
      <vt:lpstr>Intermediate Conclusions</vt:lpstr>
      <vt:lpstr>What’s Next</vt:lpstr>
      <vt:lpstr>What’s Next</vt:lpstr>
      <vt:lpstr>What’s Next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Safa Alsalman</dc:creator>
  <cp:lastModifiedBy>خالد سامي بن سلمان المحيش</cp:lastModifiedBy>
  <cp:revision>21</cp:revision>
  <dcterms:modified xsi:type="dcterms:W3CDTF">2026-03-27T17:33:10Z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0x0101006E715EFE7EF24E49A67E10E0AC442593</vt:lpwstr>
  </property>
</Properties>
</file>